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tableStyles" Target="tableStyles.xml"/><Relationship Id="rId1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pn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png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png"/><Relationship Id="rId2" Type="http://schemas.openxmlformats.org/officeDocument/2006/relationships/image" Target="media/image4.png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1F3320', padding: 0 }}&gt;&#10;  &lt;Box style={{ flexDirection: 'row', width: 1280, height: 720 }}&gt;&#10;    &lt;Box style={{&#10;      width: 660, height: 720, paddingTop: 66, paddingLeft: 76, paddingRight: 40,&#10;      flexDirection: 'column', justifyContent: 'space-between', paddingBottom: 60,&#10;    }}&gt;&#10;      &lt;Box style={{ flexDirection: 'column' }}&gt;&#10;        &lt;Text style={{ fontSize: 14, color: '#8FA680', letterSpacing: 2, fontFamily: 'Microsoft YaHei' }}&gt;&#10;          全国大学生计算机应用能力与数字素养大赛 · 第九届传智杯&#10;        &lt;/Text&gt;&#10;        &lt;Text style={{ fontSize: 14, color: '#8FA680', letterSpacing: 2, marginTop: 6, fontFamily: 'Microsoft YaHei' }}&gt;&#10;          AI WEB 网页开发挑战赛 · B 组（本科）&#10;        &lt;/Text&gt;&#10;&#10;        &lt;Box style={{ flexDirection: 'row', alignItems: 'center', marginTop: 44 }}&gt;&#10;          &lt;Box style={{ width: 6, height: 88, background: '#8ABFEB', marginRight: 22 }} /&gt;&#10;          &lt;Box style={{ flexDirection: 'column' }}&gt;&#10;            &lt;Text style={{ fontSize: 86, fontWeight: 'bold', color: '#FFFFFF', lineHeight: 1.02, fontFamily: 'Microsoft YaHei' }}&gt;&#10;              MedAI&#10;            &lt;/Text&gt;&#10;            &lt;Text style={{ fontSize: 28, color: '#C6D8B8', marginTop: 8, fontFamily: 'Microsoft YaHei' }}&gt;&#10;              草地上的绒球医生&#10;            &lt;/Text&gt;&#10;          &lt;/Box&gt;&#10;        &lt;/Box&gt;&#10;&#10;        &lt;Text style={{ fontSize: 18, color: '#9DB08E', marginTop: 30, lineHeight: 1.8 }}&gt;&#10;          一个账号，管全家人的健康档案。&lt;br /&gt;&#10;          把&quot;该吃什么药、该不该去医院、复诊怎么说&quot;，&lt;br /&gt;&#10;          放进一片能点开的草地。&#10;        &lt;/Text&gt;&#10;&#10;        &lt;Box style={{ flexDirection: 'row', marginTop: 34 }}&gt;&#10;          &lt;Box style={{ flexDirection: 'column', width: 140 }}&gt;&#10;            &lt;Text style={{ fontSize: 34, fontWeight: 'bold', color: '#8ABFEB', fontFamily: 'Microsoft YaHei' }}&gt;163&lt;/Text&gt;&#10;            &lt;Text style={{ fontSize: 14, color: '#7E9470', marginTop: 3 }}&gt;条科普内容&lt;/Text&gt;&#10;          &lt;/Box&gt;&#10;          &lt;Box style={{ flexDirection: 'column', width: 140 }}&gt;&#10;            &lt;Text style={{ fontSize: 34, fontWeight: 'bold', color: '#8ABFEB', fontFamily: 'Microsoft YaHei' }}&gt;2.7万&lt;/Text&gt;&#10;            &lt;Text style={{ fontSize: 14, color: '#7E9470', marginTop: 3 }}&gt;行代码&lt;/Text&gt;&#10;          &lt;/Box&gt;&#10;          &lt;Box style={{ flexDirection: 'column', width: 160 }}&gt;&#10;            &lt;Text style={{ fontSize: 34, fontWeight: 'bold', color: '#8ABFEB', fontFamily: 'Microsoft YaHei' }}&gt;147&lt;/Text&gt;&#10;            &lt;Text style={{ fontSize: 14, color: '#7E9470', marginTop: 3 }}&gt;项自检全绿&lt;/Text&gt;&#10;          &lt;/Box&gt;&#10;        &lt;/Box&gt;&#10;      &lt;/Box&gt;&#10;&#10;      &lt;Box style={{&#10;        flexDirection: 'row', alignItems: 'flex-end', justifyContent: 'space-between',&#10;        borderTop: '1px solid #3C5138', paddingTop: 20,&#10;      }}&gt;&#10;        &lt;Box style={{ flexDirection: 'column' }}&gt;&#10;          &lt;Text style={{ fontSize: 13, color: '#7E9470', letterSpacing: 1 }}&gt;参赛院校&lt;/Text&gt;&#10;          &lt;Text style={{ fontSize: 19, color: '#E8EFE0', fontWeight: 'bold', marginTop: 4 }}&gt;广东医科大学&lt;/Text&gt;&#10;        &lt;/Box&gt;&#10;        &lt;Box style={{ flexDirection: 'column' }}&gt;&#10;          &lt;Text style={{ fontSize: 13, color: '#7E9470', letterSpacing: 1 }}&gt;团队成员&lt;/Text&gt;&#10;          &lt;Text style={{ fontSize: 19, color: '#E8EFE0', fontWeight: 'bold', marginTop: 4 }}&gt;陈妍萱&lt;/Text&gt;&#10;        &lt;/Box&gt;&#10;        &lt;Box style={{ flexDirection: 'column' }}&gt;&#10;          &lt;Text style={{ fontSize: 13, color: '#7E9470', letterSpacing: 1 }}&gt;指导教师&lt;/Text&gt;&#10;          &lt;Text style={{ fontSize: 19, color: '#E8EFE0', fontWeight: 'bold', marginTop: 4 }}&gt;待补充&lt;/Text&gt;&#10;        &lt;/Box&gt;&#10;      &lt;/Box&gt;&#10;    &lt;/Box&gt;&#10;&#10;    &lt;Box style={{ width: 620, height: 720, position: 'relative' }}&gt;&#10;      &lt;Image src=&quot;assets/home.png&quot; style={{ width: 620, height: 720, objectFit: 'cover' }} /&gt;&#10;      &lt;Box style={{&#10;        position: 'absolute', top: 0, left: 0, width: 200, height: 720,&#10;        backgroundImage: 'linear-gradient(90deg, #1F3320 0%, rgba(31,51,32,0) 100%)',&#10;      }} /&gt;&#10;      &lt;Box style={{&#10;        position: 'absolute', bottom: 40, right: 32, paddingTop: 10, paddingBottom: 10,&#10;        paddingLeft: 18, paddingRight: 18, background: 'rgba(31,51,32,0.82)', borderRadius: 4,&#10;      }}&gt;&#10;        &lt;Text style={{ fontSize: 15, color: '#D8E4CC', letterSpacing: 1 }}&gt;产品实机界面 · 一个账号管六份家庭档案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F3320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723900" y="628650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FA680"/>
                </a:solidFill>
                <a:latin typeface="Microsoft YaHei"/>
                <a:ea typeface="Microsoft YaHei"/>
              </a:rPr>
              <a:t>全国大学生计算机应用能力与数字素养大赛</a:t>
            </a:r>
            <a:r>
              <a:rPr lang="en-US" sz="1050" spc="150">
                <a:solidFill>
                  <a:srgbClr val="8FA6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150">
                <a:solidFill>
                  <a:srgbClr val="8FA680"/>
                </a:solidFill>
                <a:latin typeface="Microsoft YaHei"/>
                <a:ea typeface="Microsoft YaHei"/>
              </a:rPr>
              <a:t>第九届传智杯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23900" y="84772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FA680"/>
                </a:solidFill>
                <a:latin typeface="Microsoft YaHei"/>
                <a:ea typeface="Microsoft YaHei"/>
              </a:rPr>
              <a:t xml:space="preserve">AI WEB </a:t>
            </a:r>
            <a:r>
              <a:rPr lang="zh-CN" sz="1050" spc="150">
                <a:solidFill>
                  <a:srgbClr val="8FA680"/>
                </a:solidFill>
                <a:latin typeface="Microsoft YaHei"/>
                <a:ea typeface="Microsoft YaHei"/>
              </a:rPr>
              <a:t>网页开发挑战赛</a:t>
            </a:r>
            <a:r>
              <a:rPr lang="en-US" sz="1050" spc="150">
                <a:solidFill>
                  <a:srgbClr val="8FA680"/>
                </a:solidFill>
                <a:latin typeface="Microsoft YaHei"/>
                <a:ea typeface="Microsoft YaHei"/>
              </a:rPr>
              <a:t xml:space="preserve"> · B </a:t>
            </a:r>
            <a:r>
              <a:rPr lang="zh-CN" sz="1050" spc="150">
                <a:solidFill>
                  <a:srgbClr val="8FA680"/>
                </a:solidFill>
                <a:latin typeface="Microsoft YaHei"/>
                <a:ea typeface="Microsoft YaHei"/>
              </a:rPr>
              <a:t>组（本科）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723900" y="1714500"/>
            <a:ext cx="57150" cy="838200"/>
          </a:xfrm>
          <a:prstGeom prst="rect">
            <a:avLst/>
          </a:prstGeom>
          <a:solidFill>
            <a:srgbClr val="8ABFEB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90600" y="1428750"/>
            <a:ext cx="2762250" cy="1009650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6450" b="1">
                <a:solidFill>
                  <a:srgbClr val="FFFFFF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90600" y="2514600"/>
            <a:ext cx="2762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C6D8B8"/>
                </a:solidFill>
                <a:latin typeface="Microsoft YaHei"/>
                <a:ea typeface="Microsoft YaHei"/>
              </a:rPr>
              <a:t>草地上的绒球医生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23900" y="3124200"/>
            <a:ext cx="518160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9DB08E"/>
                </a:solidFill>
                <a:latin typeface="Microsoft YaHei"/>
                <a:ea typeface="Microsoft YaHei"/>
              </a:rPr>
              <a:t>一个账号，管全家人的健康档案。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9DB08E"/>
                </a:solidFill>
                <a:latin typeface="Microsoft YaHei"/>
                <a:ea typeface="Microsoft YaHei"/>
              </a:rPr>
              <a:t>把</a:t>
            </a:r>
            <a:r>
              <a:rPr lang="en-US" sz="1350">
                <a:solidFill>
                  <a:srgbClr val="9DB08E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9DB08E"/>
                </a:solidFill>
                <a:latin typeface="Microsoft YaHei"/>
                <a:ea typeface="Microsoft YaHei"/>
              </a:rPr>
              <a:t>该吃什么药、该不该去医院、复诊怎么说</a:t>
            </a:r>
            <a:r>
              <a:rPr lang="en-US" sz="1350">
                <a:solidFill>
                  <a:srgbClr val="9DB08E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9DB08E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9DB08E"/>
                </a:solidFill>
                <a:latin typeface="Microsoft YaHei"/>
                <a:ea typeface="Microsoft YaHei"/>
              </a:rPr>
              <a:t>放进一片能点开的草地。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3900" y="4562475"/>
            <a:ext cx="1333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ABFEB"/>
                </a:solidFill>
                <a:latin typeface="Microsoft YaHei"/>
                <a:ea typeface="Microsoft YaHei"/>
              </a:rPr>
              <a:t>163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23900" y="49815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E9470"/>
                </a:solidFill>
                <a:latin typeface="Microsoft YaHei"/>
                <a:ea typeface="Microsoft YaHei"/>
              </a:rPr>
              <a:t>条科普内容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057400" y="4562475"/>
            <a:ext cx="1333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ABFEB"/>
                </a:solidFill>
                <a:latin typeface="Microsoft YaHei"/>
                <a:ea typeface="Microsoft YaHei"/>
              </a:rPr>
              <a:t>2.7</a:t>
            </a:r>
            <a:r>
              <a:rPr lang="zh-CN" sz="2550" b="1">
                <a:solidFill>
                  <a:srgbClr val="8ABFEB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057400" y="49815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E9470"/>
                </a:solidFill>
                <a:latin typeface="Microsoft YaHei"/>
                <a:ea typeface="Microsoft YaHei"/>
              </a:rPr>
              <a:t>行代码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390900" y="4562475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ABFEB"/>
                </a:solidFill>
                <a:latin typeface="Microsoft YaHei"/>
                <a:ea typeface="Microsoft YaHei"/>
              </a:rPr>
              <a:t>147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390900" y="49815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E9470"/>
                </a:solidFill>
                <a:latin typeface="Microsoft YaHei"/>
                <a:ea typeface="Microsoft YaHei"/>
              </a:rPr>
              <a:t>项自检全绿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23900" y="5676900"/>
            <a:ext cx="5181600" cy="619125"/>
          </a:xfrm>
          <a:custGeom>
            <a:pathLst>
              <a:path w="544" h="65">
                <a:moveTo>
                  <a:pt x="0" y="0"/>
                </a:moveTo>
                <a:lnTo>
                  <a:pt x="544" y="0"/>
                </a:lnTo>
                <a:lnTo>
                  <a:pt x="544" y="1"/>
                </a:lnTo>
                <a:lnTo>
                  <a:pt x="0" y="1"/>
                </a:lnTo>
                <a:close/>
              </a:path>
            </a:pathLst>
          </a:custGeom>
          <a:solidFill>
            <a:srgbClr val="3C513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23900" y="587692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E9470"/>
                </a:solidFill>
                <a:latin typeface="Microsoft YaHei"/>
                <a:ea typeface="Microsoft YaHei"/>
              </a:rPr>
              <a:t>参赛院校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23900" y="60674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FE0"/>
                </a:solidFill>
                <a:latin typeface="Microsoft YaHei"/>
                <a:ea typeface="Microsoft YaHei"/>
              </a:rPr>
              <a:t>广东医科大学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314700" y="5876925"/>
            <a:ext cx="54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E9470"/>
                </a:solidFill>
                <a:latin typeface="Microsoft YaHei"/>
                <a:ea typeface="Microsoft YaHei"/>
              </a:rPr>
              <a:t>团队成员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919095" y="6067425"/>
            <a:ext cx="133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FE0"/>
                </a:solidFill>
                <a:latin typeface="Microsoft YaHei"/>
                <a:ea typeface="Microsoft YaHei"/>
              </a:rPr>
              <a:t>陈妍萱、潘思妍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362575" y="5876925"/>
            <a:ext cx="54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E9470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362575" y="60674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FE0"/>
                </a:solidFill>
                <a:latin typeface="Microsoft YaHei"/>
                <a:ea typeface="Microsoft YaHei"/>
              </a:rPr>
              <a:t>白金山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 r:embed="rId1"/>
          <a:srcRect l="23090" t="0" r="23090" b="0"/>
          <a:stretch>
            <a:fillRect/>
          </a:stretch>
        </p:blipFill>
        <p:spPr>
          <a:xfrm rot="0" flipH="0" flipV="0">
            <a:off x="6286500" y="0"/>
            <a:ext cx="5905500" cy="6858000"/>
          </a:xfrm>
          <a:prstGeom prst="rect">
            <a:avLst/>
          </a:prstGeom>
          <a:ln/>
        </p:spPr>
      </p:pic>
      <p:sp>
        <p:nvSpPr>
          <p:cNvPr id="23" name=""/>
          <p:cNvSpPr/>
          <p:nvPr/>
        </p:nvSpPr>
        <p:spPr>
          <a:xfrm rot="0" flipH="0" flipV="0">
            <a:off x="6286500" y="0"/>
            <a:ext cx="1905000" cy="6858000"/>
          </a:xfrm>
          <a:prstGeom prst="rect">
            <a:avLst/>
          </a:prstGeom>
          <a:gradFill>
            <a:gsLst>
              <a:gs pos="0">
                <a:srgbClr val="1F3320"/>
              </a:gs>
              <a:gs pos="100000">
                <a:srgbClr val="1F33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8801100" y="6115050"/>
            <a:ext cx="3086100" cy="361950"/>
          </a:xfrm>
          <a:prstGeom prst="roundRect">
            <a:avLst>
              <a:gd name="adj" fmla="val 10526"/>
            </a:avLst>
          </a:prstGeom>
          <a:solidFill>
            <a:srgbClr val="1F3320">
              <a:alpha val="82000"/>
            </a:srgbClr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972550" y="621030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D8E4CC"/>
                </a:solidFill>
                <a:latin typeface="Microsoft YaHei"/>
                <a:ea typeface="Microsoft YaHei"/>
              </a:rPr>
              <a:t>产品实机界面</a:t>
            </a:r>
            <a:r>
              <a:rPr lang="en-US" sz="1125" spc="75">
                <a:solidFill>
                  <a:srgbClr val="D8E4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75">
                <a:solidFill>
                  <a:srgbClr val="D8E4CC"/>
                </a:solidFill>
                <a:latin typeface="Microsoft YaHei"/>
                <a:ea typeface="Microsoft YaHei"/>
              </a:rPr>
              <a:t>一个账号管六份家庭档案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16" name="" descr="&lt;Slide style={{ width: 1280, height: 720, background: '#FFFFFF', padding: 0 }}&gt;&#10;  &lt;Box style={{ flexDirection: 'column', width: 1280, height: 720 }}&gt;&#10;    &lt;Box style={{&#10;      width: 1280, height: 44, background: '#F3F1E7', flexDirection: 'row',&#10;      alignItems: 'center', justifyContent: 'space-between',&#10;      paddingLeft: 60, paddingRight: 60,&#10;    }}&gt;&#10;      &lt;Text style={{ fontSize: 15, color: '#2F4A2B', letterSpacing: 2, fontWeight: 'bold' }}&gt;01　问题&lt;/Text&gt;&#10;      &lt;Text style={{ fontSize: 14, color: '#8B8A7E', letterSpacing: 2 }}&gt;MedAI&lt;/Text&gt;&#10;    &lt;/Box&gt;&#10;    &lt;Box style={{ width: 1280, height: 2, background: '#2F4A2B' }} /&gt;&#10;&#10;    &lt;Box style={{ paddingLeft: 60, paddingRight: 60, paddingTop: 24, flexDirection: 'column' }}&gt;&#10;      &lt;Text style={{ fontSize: 34, fontWeight: 'bold', color: '#1C1F1A', fontFamily: 'Microsoft YaHei' }}&gt;&#10;        家里的药，没有人真的在管&#10;      &lt;/Text&gt;&#10;      &lt;Text style={{ fontSize: 17, color: '#55544A', marginTop: 6 }}&gt;&#10;        中国有 3 亿慢性病患者，&quot;一个家里谁在管药&quot;这件事，通常落在那个二三十岁的子女身上。&#10;      &lt;/Text&gt;&#10;&#10;      &lt;Box style={{ flexDirection: 'row', marginTop: 18 }}&gt;&#10;        &lt;Box style={{ width: 690, flexDirection: 'column', paddingRight: 36 }}&gt;&#10;          &lt;Text style={{ fontSize: 20, fontWeight: 'bold', color: '#2F4A2B', marginBottom: 8 }}&gt;&#10;            一件真的发生过的事&#10;          &lt;/Text&gt;&#10;          &lt;Text style={{ fontSize: 18, color: '#33352E', lineHeight: 1.8 }}&gt;&#10;            我奶奶有高血压和糖尿病，每天四次药。有一次我妈出差三天，回来发现她把两天的药&#10;            一次吃了。这件事之后我才意识到，家里的药其实没有人真的在管 ——&#10;            &lt;span style={{ fontWeight: 'bold', color: '#C0473C' }}&gt;老人记不清今天这顿吃没吃，子女问不出来，重复服药的风险就从这里长出来。&lt;/span&gt;&#10;            &lt;br /&gt;&lt;br /&gt;&#10;            同样说不清的还有两件事：复诊只有三分钟，医生问&quot;上次那个药还吃着吗&quot;，患者答不上来；&#10;            医生说了一堆注意事项，一周后只剩一句&quot;多喝水&quot;。&#10;            &lt;span style={{ fontWeight: 'bold' }}&gt;共同点是信息散落在药盒、纸质病历、微信记录和老人的记忆里，&#10;            没有一个地方把它们收在一起。&lt;/span&gt;&#10;          &lt;/Text&gt;&#10;&#10;          &lt;Box style={{&#10;            flexDirection: 'row', alignItems: 'center', marginTop: 14,&#10;            background: '#FAF7EF', borderLeft: '4px solid #2F4A2B', paddingTop: 10, paddingBottom: 10,&#10;            paddingLeft: 16, paddingRight: 16,&#10;          }}&gt;&#10;            &lt;Text style={{ fontSize: 17, color: '#2F4A2B', lineHeight: 1.65 }}&gt;&#10;              问题定义：&lt;span style={{ fontWeight: 'bold' }}&gt;缺的不是功能，是一个全家共用、一个人维护、&#10;              老人也看得懂的容器。&lt;/span&gt;&#10;            &lt;/Text&gt;&#10;          &lt;/Box&gt;&#10;        &lt;/Box&gt;&#10;&#10;        &lt;Box style={{ width: 470, flexDirection: 'column', gap: 10 }}&gt;&#10;          &lt;Box style={{&#10;            background: '#F3F1E7', borderRadius: 4, paddingTop: 13, paddingBottom: 13,&#10;            paddingLeft: 22, paddingRight: 22, flexDirection: 'row', alignItems: 'center',&#10;          }}&gt;&#10;            &lt;Text style={{ fontSize: 44, fontWeight: 'bold', color: '#2F4A2B', width: 118, fontFamily: 'Microsoft YaHei' }}&gt;&#10;              3 亿&#10;            &lt;/Text&gt;&#10;            &lt;Box style={{ flexDirection: 'column', flex: 1 }}&gt;&#10;              &lt;Text style={{ fontSize: 17, color: '#1C1F1A', fontWeight: 'bold' }}&gt;慢性病患者&lt;/Text&gt;&#10;              &lt;Text style={{ fontSize: 13, color: '#8B8A7E', marginTop: 3 }}&gt;其中不少是需要长期服药的老人&lt;/Text&gt;&#10;            &lt;/Box&gt;&#10;          &lt;/Box&gt;&#10;&#10;          &lt;Box style={{&#10;            background: '#F3F1E7', borderRadius: 4, paddingTop: 13, paddingBottom: 13,&#10;            paddingLeft: 22, paddingRight: 22, flexDirection: 'row', alignItems: 'center',&#10;          }}&gt;&#10;            &lt;Text style={{ fontSize: 44, fontWeight: 'bold', color: '#C0473C', width: 118, fontFamily: 'Microsoft YaHei' }}&gt;&#10;              50%&#10;            &lt;/Text&gt;&#10;            &lt;Box style={{ flexDirection: 'column', flex: 1 }}&gt;&#10;              &lt;Text style={{ fontSize: 17, color: '#1C1F1A', fontWeight: 'bold' }}&gt;长期用药依从率&lt;/Text&gt;&#10;              &lt;Text style={{ fontSize: 13, color: '#8B8A7E', marginTop: 3 }}&gt;慢病患者长期治疗依从率约五成&lt;/Text&gt;&#10;            &lt;/Box&gt;&#10;          &lt;/Box&gt;&#10;&#10;          &lt;Box style={{&#10;            background: '#F3F1E7', borderRadius: 4, paddingTop: 13, paddingBottom: 13,&#10;            paddingLeft: 22, paddingRight: 22, flexDirection: 'row', alignItems: 'center',&#10;          }}&gt;&#10;            &lt;Text style={{ fontSize: 44, fontWeight: 'bold', color: '#2F4A2B', width: 118, fontFamily: 'Microsoft YaHei' }}&gt;&#10;              3 分钟&#10;            &lt;/Text&gt;&#10;            &lt;Box style={{ flexDirection: 'column', flex: 1 }}&gt;&#10;              &lt;Text style={{ fontSize: 17, color: '#1C1F1A', fontWeight: 'bold' }}&gt;一次门诊沟通&lt;/Text&gt;&#10;              &lt;Text style={{ fontSize: 13, color: '#8B8A7E', marginTop: 3 }}&gt;医生没时间听完三个月的病程&lt;/Text&gt;&#10;            &lt;/Box&gt;&#10;          &lt;/Box&gt;&#10;&#10;          &lt;Box style={{&#10;            background: '#2F4A2B', borderRadius: 4, paddingTop: 14, paddingBottom: 14,&#10;            paddingLeft: 22, paddingRight: 22, flexDirection: 'column',&#10;          }}&gt;&#10;            &lt;Text style={{ fontSize: 17, color: '#FFFFFF', fontWeight: 'bold', lineHeight: 1.55 }}&gt;&#10;              这三件事，构成一个家庭每天都在面对、&#10;              但没有任何工具完整接住的场景。&#10;            &lt;/Text&gt;&#10;          &lt;/Box&gt;&#10;&#10;          &lt;Text style={{ fontSize: 11, color: '#A8A695', lineHeight: 1.5 }}&gt;&#10;            数据来源：《中国居民营养与慢性病状况报告（2020 年）》；&#10;            WHO《Adherence to Long-term Therapies》&#10;          &lt;/Text&gt;&#10;        &lt;/Box&gt;&#10;      &lt;/Box&gt;&#10;    &lt;/Box&gt;&#10;&#10;    &lt;Box style={{&#10;      position: 'absolute', bottom: 0, left: 0, width: 1280, height: 40,&#10;      flexDirection: 'row', alignItems: 'center', justifyContent: 'space-between',&#10;      paddingLeft: 60, paddingRight: 60,&#10;    }}&gt;&#10;      &lt;Text style={{ fontSize: 13, color: '#8B8A7E' }}&gt;广东医科大学 · MedAI&lt;/Text&gt;&#10;      &lt;Text style={{ fontSize: 13, color: '#2F4A2B' }}&gt;02 / 14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01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问题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6667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家里的药，没有人真的在管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71500" y="11144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中国有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亿慢性病患者，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一个家里谁在管药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这件事，通常落在那个二三十岁的子女身上。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71500" y="14859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F4A2B"/>
                </a:solidFill>
                <a:latin typeface="Microsoft YaHei"/>
                <a:ea typeface="Microsoft YaHei"/>
              </a:rPr>
              <a:t>一件真的发生过的事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71500" y="1790700"/>
            <a:ext cx="6229350" cy="2600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我奶奶有高血压和糖尿病，每天四次药。有一次我妈出差三天，回来发现她把两天的药</a:t>
            </a:r>
            <a:r>
              <a:rPr lang="en-US" sz="1350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一次吃了。这件事之后我才意识到，家里的药其实没有人真的在管</a:t>
            </a:r>
            <a:r>
              <a:rPr lang="en-US" sz="1350">
                <a:solidFill>
                  <a:srgbClr val="33352E"/>
                </a:solidFill>
                <a:latin typeface="Microsoft YaHei"/>
                <a:ea typeface="Microsoft YaHei"/>
              </a:rPr>
              <a:t xml:space="preserve"> ——</a:t>
            </a:r>
            <a:r>
              <a:rPr lang="zh-CN" sz="1350" b="1">
                <a:solidFill>
                  <a:srgbClr val="C0473C"/>
                </a:solidFill>
                <a:latin typeface="Microsoft YaHei"/>
                <a:ea typeface="Microsoft YaHei"/>
              </a:rPr>
              <a:t>老人记不清今天这顿吃没吃，子女问不出来，重复服药的风险就从这里长出来。</a:t>
            </a:r>
            <a:endParaRPr/>
          </a:p>
          <a:p>
            <a:pPr>
              <a:lnSpc>
                <a:spcPct val="180000"/>
              </a:lnSpc>
            </a:pPr>
            <a:r>
              <a:rPr sz="1350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同样说不清的还有两件事：复诊只有三分钟，医生问</a:t>
            </a:r>
            <a:r>
              <a:rPr lang="en-US" sz="135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上次那个药还吃着吗</a:t>
            </a:r>
            <a:r>
              <a:rPr lang="en-US" sz="135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，患者答不上来；</a:t>
            </a:r>
            <a:r>
              <a:rPr lang="en-US" sz="1350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医生说了一堆注意事项，一周后只剩一句</a:t>
            </a:r>
            <a:r>
              <a:rPr lang="en-US" sz="135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多喝水</a:t>
            </a:r>
            <a:r>
              <a:rPr lang="en-US" sz="135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33352E"/>
                </a:solidFill>
                <a:latin typeface="Microsoft YaHei"/>
                <a:ea typeface="Microsoft YaHei"/>
              </a:rPr>
              <a:t>。</a:t>
            </a:r>
            <a:r>
              <a:rPr lang="zh-CN" sz="1350" b="1">
                <a:solidFill>
                  <a:srgbClr val="33352E"/>
                </a:solidFill>
                <a:latin typeface="Microsoft YaHei"/>
                <a:ea typeface="Microsoft YaHei"/>
              </a:rPr>
              <a:t>共同点是信息散落在药盒、纸质病历、微信记录和老人的记忆里，</a:t>
            </a:r>
            <a:r>
              <a:rPr lang="en-US" sz="1350" b="1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33352E"/>
                </a:solidFill>
                <a:latin typeface="Microsoft YaHei"/>
                <a:ea typeface="Microsoft YaHei"/>
              </a:rPr>
              <a:t>没有一个地方把它们收在一起。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4524375"/>
            <a:ext cx="6229350" cy="514350"/>
          </a:xfrm>
          <a:prstGeom prst="rect">
            <a:avLst/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571500" y="4524375"/>
            <a:ext cx="6267450" cy="514350"/>
          </a:xfrm>
          <a:custGeom>
            <a:pathLst>
              <a:path w="658" h="54">
                <a:moveTo>
                  <a:pt x="0" y="0"/>
                </a:moveTo>
                <a:lnTo>
                  <a:pt x="4" y="0"/>
                </a:lnTo>
                <a:lnTo>
                  <a:pt x="4" y="54"/>
                </a:lnTo>
                <a:lnTo>
                  <a:pt x="0" y="54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62000" y="4619625"/>
            <a:ext cx="588645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2F4A2B"/>
                </a:solidFill>
                <a:latin typeface="Microsoft YaHei"/>
                <a:ea typeface="Microsoft YaHei"/>
              </a:rPr>
              <a:t>问题定义：</a:t>
            </a:r>
            <a:r>
              <a:rPr lang="zh-CN" sz="1275" b="1">
                <a:solidFill>
                  <a:srgbClr val="2F4A2B"/>
                </a:solidFill>
                <a:latin typeface="Microsoft YaHei"/>
                <a:ea typeface="Microsoft YaHei"/>
              </a:rPr>
              <a:t>缺的不是功能，是一个全家共用、一个人维护、</a:t>
            </a:r>
            <a:r>
              <a:rPr lang="en-US" sz="1275" b="1">
                <a:solidFill>
                  <a:srgbClr val="2F4A2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2F4A2B"/>
                </a:solidFill>
                <a:latin typeface="Microsoft YaHei"/>
                <a:ea typeface="Microsoft YaHei"/>
              </a:rPr>
              <a:t>老人也看得懂的容器。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143750" y="1485900"/>
            <a:ext cx="4476750" cy="752475"/>
          </a:xfrm>
          <a:prstGeom prst="roundRect">
            <a:avLst>
              <a:gd name="adj" fmla="val 5063"/>
            </a:avLst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353300" y="1609725"/>
            <a:ext cx="11239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4A2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3300" b="1">
                <a:solidFill>
                  <a:srgbClr val="2F4A2B"/>
                </a:solidFill>
                <a:latin typeface="Microsoft YaHei"/>
                <a:ea typeface="Microsoft YaHei"/>
              </a:rPr>
              <a:t>亿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477250" y="16764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慢性病患者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477250" y="19050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其中不少是需要长期服药的老人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7143750" y="2333625"/>
            <a:ext cx="4476750" cy="752475"/>
          </a:xfrm>
          <a:prstGeom prst="roundRect">
            <a:avLst>
              <a:gd name="adj" fmla="val 5063"/>
            </a:avLst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353300" y="2457450"/>
            <a:ext cx="11239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0473C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477250" y="252412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长期用药依从率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477250" y="2752725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慢病患者长期治疗依从率约五成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7143750" y="3181350"/>
            <a:ext cx="4476750" cy="1257300"/>
          </a:xfrm>
          <a:prstGeom prst="roundRect">
            <a:avLst>
              <a:gd name="adj" fmla="val 3030"/>
            </a:avLst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353300" y="3305175"/>
            <a:ext cx="112395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4A2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3300" b="1">
                <a:solidFill>
                  <a:srgbClr val="2F4A2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477250" y="36195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一次门诊沟通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477250" y="38481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医生没时间听完三个月的病程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7143750" y="4533900"/>
            <a:ext cx="4476750" cy="876300"/>
          </a:xfrm>
          <a:prstGeom prst="roundRect">
            <a:avLst>
              <a:gd name="adj" fmla="val 4348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353300" y="4667250"/>
            <a:ext cx="40576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这三件事，构成一个家庭每天都在面对、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但没有任何工具完整接住的场景。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143750" y="5505450"/>
            <a:ext cx="447675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A8A695"/>
                </a:solidFill>
                <a:latin typeface="Microsoft YaHei"/>
                <a:ea typeface="Microsoft YaHei"/>
              </a:rPr>
              <a:t>数据来源：《中国居民营养与慢性病状况报告（</a:t>
            </a:r>
            <a:r>
              <a:rPr lang="en-US" sz="825">
                <a:solidFill>
                  <a:srgbClr val="A8A695"/>
                </a:solidFill>
                <a:latin typeface="Microsoft YaHei"/>
                <a:ea typeface="Microsoft YaHei"/>
              </a:rPr>
              <a:t xml:space="preserve">2020 </a:t>
            </a:r>
            <a:r>
              <a:rPr lang="zh-CN" sz="825">
                <a:solidFill>
                  <a:srgbClr val="A8A695"/>
                </a:solidFill>
                <a:latin typeface="Microsoft YaHei"/>
                <a:ea typeface="Microsoft YaHei"/>
              </a:rPr>
              <a:t>年）》；</a:t>
            </a:r>
            <a:r>
              <a:rPr lang="en-US" sz="825">
                <a:solidFill>
                  <a:srgbClr val="A8A695"/>
                </a:solidFill>
                <a:latin typeface="Microsoft YaHei"/>
                <a:ea typeface="Microsoft YaHei"/>
              </a:rPr>
              <a:t xml:space="preserve"> WHO</a:t>
            </a:r>
            <a:r>
              <a:rPr lang="zh-CN" sz="825">
                <a:solidFill>
                  <a:srgbClr val="A8A695"/>
                </a:solidFill>
                <a:latin typeface="Microsoft YaHei"/>
                <a:ea typeface="Microsoft YaHei"/>
              </a:rPr>
              <a:t>《</a:t>
            </a:r>
            <a:r>
              <a:rPr lang="en-US" sz="825">
                <a:solidFill>
                  <a:srgbClr val="A8A695"/>
                </a:solidFill>
                <a:latin typeface="Microsoft YaHei"/>
                <a:ea typeface="Microsoft YaHei"/>
              </a:rPr>
              <a:t>Adherence to Long-term Therapies</a:t>
            </a:r>
            <a:r>
              <a:rPr lang="zh-CN" sz="825">
                <a:solidFill>
                  <a:srgbClr val="A8A695"/>
                </a:solidFill>
                <a:latin typeface="Microsoft YaHei"/>
                <a:ea typeface="Microsoft YaHei"/>
              </a:rPr>
              <a:t>》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46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1　问题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34, flexDirection: 'column' }}&gt;&#13;&#10;      &lt;Text style={{ fontSize: 34, fontWeight: 'bold', color: '#1C1F1A', fontFamily: 'Microsoft YaHei' }}&gt;&#13;&#10;        不是没人做，是没人做成一个&quot;全家共用的容器&quot;&#13;&#10;      &lt;/Text&gt;&#13;&#10;      &lt;Text style={{ fontSize: 17, color: '#55544A', marginTop: 10 }}&gt;&#13;&#10;        四类现有形态各自解决了一段，但没有一类把&quot;记录、判断、整理&quot;这三件事串起来。&#13;&#10;      &lt;/Text&gt;&#13;&#10;&#13;&#10;      &lt;Box style={{ flexDirection: 'row', marginTop: 28, paddingBottom: 10, borderBottom: '2px solid #2F4A2B' }}&gt;&#13;&#10;        &lt;Text style={{ fontSize: 15, color: '#2F4A2B', fontWeight: 'bold', width: 236 }}&gt;现有形态&lt;/Text&gt;&#13;&#10;        &lt;Text style={{ fontSize: 15, color: '#2F4A2B', fontWeight: 'bold', width: 400 }}&gt;它做到的&lt;/Text&gt;&#13;&#10;        &lt;Text style={{ fontSize: 15, color: '#2F4A2B', fontWeight: 'bold', flex: 1 }}&gt;它缺的那一块&lt;/Text&gt;&#13;&#10;      &lt;/Box&gt;&#13;&#10;&#13;&#10;      &lt;Box style={{ flexDirection: 'row', paddingTop: 22, paddingBottom: 22, borderBottom: '1px solid #E2DED0' }}&gt;&#13;&#10;        &lt;Box style={{ width: 236, paddingRight: 16 }}&gt;&#13;&#10;          &lt;Text style={{ fontSize: 19, fontWeight: 'bold', color: '#1C1F1A' }}&gt;手机闹钟 / 药盒提醒器&lt;/Text&gt;&#13;&#10;          &lt;Text style={{ fontSize: 13, color: '#8B8A7E', marginTop: 4 }}&gt;几十元，最普及&lt;/Text&gt;&#13;&#10;        &lt;/Box&gt;&#13;&#10;        &lt;Text style={{ fontSize: 17, color: '#55544A', width: 400, paddingRight: 24, lineHeight: 1.6 }}&gt;&#13;&#10;          到点响，便宜、可靠，不需要学习成本&#13;&#10;        &lt;/Text&gt;&#13;&#10;        &lt;Text style={{ fontSize: 17, color: '#33352E', flex: 1, lineHeight: 1.6 }}&gt;&#13;&#10;          只知道&quot;该吃药了&quot;，不知道&lt;span style={{ fontWeight: 'bold', color: '#C0473C' }}&gt;谁该吃、吃几片、吃没吃&lt;/span&gt;；&#13;&#10;          换个人就全乱&#13;&#10;        &lt;/Text&gt;&#13;&#10;      &lt;/Box&gt;&#13;&#10;&#13;&#10;      &lt;Box style={{ flexDirection: 'row', paddingTop: 22, paddingBottom: 22, borderBottom: '1px solid #E2DED0' }}&gt;&#13;&#10;        &lt;Box style={{ width: 236, paddingRight: 16 }}&gt;&#13;&#10;          &lt;Text style={{ fontSize: 19, fontWeight: 'bold', color: '#1C1F1A' }}&gt;医院 App / 互联网医院&lt;/Text&gt;&#13;&#10;          &lt;Text style={{ fontSize: 13, color: '#8B8A7E', marginTop: 4 }}&gt;数据最权威&lt;/Text&gt;&#13;&#10;        &lt;/Box&gt;&#13;&#10;        &lt;Text style={{ fontSize: 17, color: '#55544A', width: 400, paddingRight: 24, lineHeight: 1.6 }}&gt;&#13;&#10;          能挂号、能复诊、有电子病历，检查结果可信&#13;&#10;        &lt;/Text&gt;&#13;&#10;        &lt;Text style={{ fontSize: 17, color: '#33352E', flex: 1, lineHeight: 1.6 }}&gt;&#13;&#10;          每家医院一套、跨院不通；面向&quot;这一次就诊&quot;，&#13;&#10;          &lt;span style={{ fontWeight: 'bold', color: '#C0473C' }}&gt;不面向&quot;这一年&quot;&lt;/span&gt;&#13;&#10;        &lt;/Text&gt;&#13;&#10;      &lt;/Box&gt;&#13;&#10;&#13;&#10;      &lt;Box style={{ flexDirection: 'row', paddingTop: 22, paddingBottom: 22, borderBottom: '1px solid #E2DED0' }}&gt;&#13;&#10;        &lt;Box style={{ width: 236, paddingRight: 16 }}&gt;&#13;&#10;          &lt;Text style={{ fontSize: 19, fontWeight: 'bold', color: '#1C1F1A' }}&gt;通用 AI 聊天&lt;/Text&gt;&#13;&#10;          &lt;Text style={{ fontSize: 13, color: '#8B8A7E', marginTop: 4 }}&gt;门槛最低&lt;/Text&gt;&#13;&#10;        &lt;/Box&gt;&#13;&#10;        &lt;Text style={{ fontSize: 17, color: '#55544A', width: 400, paddingRight: 24, lineHeight: 1.6 }}&gt;&#13;&#10;          什么都能问，会解释术语，说话像人&#13;&#10;        &lt;/Text&gt;&#13;&#10;        &lt;Text style={{ fontSize: 17, color: '#33352E', flex: 1, lineHeight: 1.6 }}&gt;&#13;&#10;          &lt;span style={{ fontWeight: 'bold', color: '#C0473C' }}&gt;没有档案就没有个体化&lt;/span&gt;；&#13;&#10;          不知道过敏史和在服药物，建议只能停在科普层面&#13;&#10;        &lt;/Text&gt;&#13;&#10;      &lt;/Box&gt;&#13;&#10;&#13;&#10;      &lt;Box style={{ flexDirection: 'row', paddingTop: 16, paddingBottom: 14 }}&gt;&#13;&#10;        &lt;Box style={{ width: 236, paddingRight: 16 }}&gt;&#13;&#10;          &lt;Text style={{ fontSize: 19, fontWeight: 'bold', color: '#1C1F1A' }}&gt;健康管理类 App&lt;/Text&gt;&#13;&#10;          &lt;Text style={{ fontSize: 13, color: '#8B8A7E', marginTop: 4 }}&gt;功能最全&lt;/Text&gt;&#13;&#10;        &lt;/Box&gt;&#13;&#10;        &lt;Text style={{ fontSize: 17, color: '#55544A', width: 400, paddingRight: 24, lineHeight: 1.6 }}&gt;&#13;&#10;          数据维度多，图表齐全，能长期打卡&#13;&#10;        &lt;/Text&gt;&#13;&#10;        &lt;Text style={{ fontSize: 17, color: '#33352E', flex: 1, lineHeight: 1.6 }}&gt;&#13;&#10;          要填的太多，老人用不了；界面像体检报告，&#13;&#10;          &lt;span style={{ fontWeight: 'bold', color: '#C0473C' }}&gt;看不下去&lt;/span&gt;&#13;&#10;        &lt;/Text&gt;&#13;&#10;      &lt;/Box&gt;&#13;&#10;&#13;&#10;      &lt;Box style={{&#13;&#10;        marginTop: 16, background: '#2F4A2B', borderRadius: 4,&#13;&#10;        paddingTop: 14, paddingBottom: 14, paddingLeft: 24, paddingRight: 24,&#13;&#10;        flexDirection: 'row', alignItems: 'center',&#13;&#10;      }}&gt;&#13;&#10;        &lt;Text style={{ fontSize: 15, color: '#A8C09A', letterSpacing: 2, width: 100 }}&gt;我们的判断&lt;/Text&gt;&#13;&#10;        &lt;Text style={{ fontSize: 19, color: '#FFFFFF', fontWeight: 'bold', flex: 1, lineHeight: 1.55 }}&gt;&#13;&#10;          四类各解决一段。缺的是把它们串起来的那个容器 —— 而且这个容器必须先让人愿意打开。&#13;&#10;        &lt;/Text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03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01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问题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不是没人做，是没人做成一个</a:t>
            </a:r>
            <a:r>
              <a:rPr lang="en-US" sz="2550" b="1">
                <a:solidFill>
                  <a:srgbClr val="1C1F1A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全家共用的容器</a:t>
            </a:r>
            <a:r>
              <a:rPr lang="en-US" sz="2550" b="1">
                <a:solidFill>
                  <a:srgbClr val="1C1F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71500" y="124777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四类现有形态各自解决了一段，但没有一类把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记录、判断、整理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这三件事串起来。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571500" y="1714500"/>
            <a:ext cx="11049000" cy="304800"/>
          </a:xfrm>
          <a:custGeom>
            <a:pathLst>
              <a:path w="1160" h="32">
                <a:moveTo>
                  <a:pt x="0" y="30"/>
                </a:moveTo>
                <a:lnTo>
                  <a:pt x="1160" y="30"/>
                </a:lnTo>
                <a:lnTo>
                  <a:pt x="116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71500" y="171450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4A2B"/>
                </a:solidFill>
                <a:latin typeface="Microsoft YaHei"/>
                <a:ea typeface="Microsoft YaHei"/>
              </a:rPr>
              <a:t>现有形态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2819400" y="17145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4A2B"/>
                </a:solidFill>
                <a:latin typeface="Microsoft YaHei"/>
                <a:ea typeface="Microsoft YaHei"/>
              </a:rPr>
              <a:t>它做到的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629400" y="171450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4A2B"/>
                </a:solidFill>
                <a:latin typeface="Microsoft YaHei"/>
                <a:ea typeface="Microsoft YaHei"/>
              </a:rPr>
              <a:t>它缺的那一块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571500" y="2000250"/>
            <a:ext cx="11049000" cy="847725"/>
          </a:xfrm>
          <a:custGeom>
            <a:pathLst>
              <a:path w="1160" h="89">
                <a:moveTo>
                  <a:pt x="0" y="88"/>
                </a:moveTo>
                <a:lnTo>
                  <a:pt x="1160" y="88"/>
                </a:lnTo>
                <a:lnTo>
                  <a:pt x="1160" y="89"/>
                </a:lnTo>
                <a:lnTo>
                  <a:pt x="0" y="89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手机闹钟</a:t>
            </a:r>
            <a:r>
              <a:rPr lang="en-US" sz="142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药盒提醒器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71500" y="2466975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几十元，最普及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2819400" y="2209800"/>
            <a:ext cx="3810000" cy="409575"/>
          </a:xfrm>
          <a:prstGeom prst="rect"/>
        </p:spPr>
        <p:txBody>
          <a:bodyPr wrap="none" lIns="0" tIns="0" rIns="17145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到点响，便宜、可靠，不需要学习成本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29400" y="2209800"/>
            <a:ext cx="49911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只知道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该吃药了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，不知道</a:t>
            </a: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谁该吃、吃几片、吃没吃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；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换个人就全乱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71500" y="2838450"/>
            <a:ext cx="11049000" cy="847725"/>
          </a:xfrm>
          <a:custGeom>
            <a:pathLst>
              <a:path w="1160" h="89">
                <a:moveTo>
                  <a:pt x="0" y="88"/>
                </a:moveTo>
                <a:lnTo>
                  <a:pt x="1160" y="88"/>
                </a:lnTo>
                <a:lnTo>
                  <a:pt x="1160" y="89"/>
                </a:lnTo>
                <a:lnTo>
                  <a:pt x="0" y="89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71500" y="304800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医院</a:t>
            </a:r>
            <a:r>
              <a:rPr lang="en-US" sz="142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 App / </a:t>
            </a: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互联网医院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71500" y="3305175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数据最权威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819400" y="3048000"/>
            <a:ext cx="3810000" cy="409575"/>
          </a:xfrm>
          <a:prstGeom prst="rect"/>
        </p:spPr>
        <p:txBody>
          <a:bodyPr wrap="none" lIns="0" tIns="0" rIns="17145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能挂号、能复诊、有电子病历，检查结果可信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629400" y="3048000"/>
            <a:ext cx="49911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每家医院一套、跨院不通；面向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这一次就诊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，</a:t>
            </a: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不面向</a:t>
            </a:r>
            <a:r>
              <a:rPr lang="en-US" sz="1275" b="1">
                <a:solidFill>
                  <a:srgbClr val="C0473C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这一年</a:t>
            </a:r>
            <a:r>
              <a:rPr lang="en-US" sz="1275" b="1">
                <a:solidFill>
                  <a:srgbClr val="C0473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571500" y="3676650"/>
            <a:ext cx="11049000" cy="1066800"/>
          </a:xfrm>
          <a:custGeom>
            <a:pathLst>
              <a:path w="1160" h="112">
                <a:moveTo>
                  <a:pt x="0" y="111"/>
                </a:moveTo>
                <a:lnTo>
                  <a:pt x="1160" y="111"/>
                </a:lnTo>
                <a:lnTo>
                  <a:pt x="116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71500" y="388620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通用</a:t>
            </a:r>
            <a:r>
              <a:rPr lang="en-US" sz="142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聊天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" y="4143375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门槛最低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2819400" y="3886200"/>
            <a:ext cx="3810000" cy="628650"/>
          </a:xfrm>
          <a:prstGeom prst="rect"/>
        </p:spPr>
        <p:txBody>
          <a:bodyPr wrap="none" lIns="0" tIns="0" rIns="17145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什么都能问，会解释术语，说话像人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629400" y="3886200"/>
            <a:ext cx="4991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没有档案就没有个体化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；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不知道过敏史和在服药物，建议只能停在科普层面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4886325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健康管理类</a:t>
            </a:r>
            <a:r>
              <a:rPr lang="en-US" sz="142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 App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0" y="514350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功能最全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2819400" y="4886325"/>
            <a:ext cx="3810000" cy="409575"/>
          </a:xfrm>
          <a:prstGeom prst="rect"/>
        </p:spPr>
        <p:txBody>
          <a:bodyPr wrap="none" lIns="0" tIns="0" rIns="17145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数据维度多，图表齐全，能长期打卡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629400" y="4886325"/>
            <a:ext cx="49911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要填的太多，老人用不了；界面像体检报告，</a:t>
            </a: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看不下去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71500" y="5581650"/>
            <a:ext cx="11049000" cy="609600"/>
          </a:xfrm>
          <a:prstGeom prst="roundRect">
            <a:avLst>
              <a:gd name="adj" fmla="val 6250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00100" y="5800725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A8C09A"/>
                </a:solidFill>
                <a:latin typeface="Microsoft YaHei"/>
                <a:ea typeface="Microsoft YaHei"/>
              </a:rPr>
              <a:t>我们的判断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752600" y="5715000"/>
            <a:ext cx="963930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四类各解决一段。缺的是把它们串起来的那个容器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而且这个容器必须先让人愿意打开。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82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2　方案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24, flexDirection: 'column' }}&gt;&#13;&#10;      &lt;Text style={{ fontSize: 34, fontWeight: 'bold', color: '#1C1F1A', fontFamily: 'Microsoft YaHei' }}&gt;&#13;&#10;        一个账号，管全家人的健康档案&#13;&#10;      &lt;/Text&gt;&#13;&#10;      &lt;Text style={{ fontSize: 17, color: '#55544A', marginTop: 6 }}&gt;&#13;&#10;        家里每个人是一块小牌子，点开就能对话；天上吊着一块木板，写着全家今天吃了几次药。&#13;&#10;      &lt;/Text&gt;&#13;&#10;&#13;&#10;      &lt;Box style={{ flexDirection: 'row', marginTop: 16 }}&gt;&#13;&#10;        &lt;Box style={{ width: 636, flexDirection: 'column' }}&gt;&#13;&#10;          &lt;Image src=&quot;assets/home.png&quot; style={{ width: 636, height: 462, objectFit: 'cover', borderRadius: 6, border: '1px solid #D8D4C4' }} /&gt;&#13;&#10;          &lt;Text style={{ fontSize: 12, color: '#8B8A7E', marginTop: 8 }}&gt;&#13;&#10;            图 1　草地首页：左栏六份家庭档案，中间绒球医生，天上吊着用药木牌&#13;&#10;          &lt;/Text&gt;&#13;&#10;        &lt;/Box&gt;&#13;&#10;&#13;&#10;        &lt;Box style={{ flex: 1, flexDirection: 'column', paddingLeft: 30, height: 490, justifyContent: 'space-between' }}&gt;&#13;&#10;          &lt;Box style={{ flexDirection: 'column', paddingBottom: 18, borderBottom: '1px solid #E2DED0' }}&gt;&#13;&#10;            &lt;Box style={{ flexDirection: 'row', alignItems: 'baseline' }}&gt;&#13;&#10;              &lt;Text style={{ fontSize: 15, color: '#8ABFEB', fontWeight: 'bold', width: 34 }}&gt;01&lt;/Text&gt;&#13;&#10;              &lt;Text style={{ fontSize: 21, fontWeight: 'bold', color: '#1C1F1A' }}&gt;一个账号，多份档案&lt;/Text&gt;&#13;&#10;            &lt;/Box&gt;&#13;&#10;            &lt;Text style={{ fontSize: 17, color: '#55544A', marginTop: 6, lineHeight: 1.7, paddingLeft: 34 }}&gt;&#13;&#10;              老人不用自己注册。越权在一条 SQL 里挡掉 —— 别人的档案和不存在返回同一个 404。&#13;&#10;            &lt;/Text&gt;&#13;&#10;          &lt;/Box&gt;&#13;&#10;&#13;&#10;          &lt;Box style={{ flexDirection: 'column', paddingTop: 16, paddingBottom: 18, borderBottom: '1px solid #E2DED0' }}&gt;&#13;&#10;            &lt;Box style={{ flexDirection: 'row', alignItems: 'baseline' }}&gt;&#13;&#10;              &lt;Text style={{ fontSize: 15, color: '#8ABFEB', fontWeight: 'bold', width: 34 }}&gt;02&lt;/Text&gt;&#13;&#10;              &lt;Text style={{ fontSize: 21, fontWeight: 'bold', color: '#1C1F1A' }}&gt;三个动作各有入口&lt;/Text&gt;&#13;&#10;            &lt;/Box&gt;&#13;&#10;            &lt;Text style={{ fontSize: 17, color: '#55544A', marginTop: 6, lineHeight: 1.7, paddingLeft: 34 }}&gt;&#13;&#10;              吃药有木牌、看病有问诊、复诊有摘要与时间轴 —— 覆盖&quot;吃、看、说&quot;三件事。&#13;&#10;            &lt;/Text&gt;&#13;&#10;          &lt;/Box&gt;&#13;&#10;&#13;&#10;          &lt;Box style={{ flexDirection: 'column', paddingTop: 18, paddingBottom: 18 }}&gt;&#13;&#10;            &lt;Box style={{ flexDirection: 'row', alignItems: 'baseline' }}&gt;&#13;&#10;              &lt;Text style={{ fontSize: 15, color: '#8ABFEB', fontWeight: 'bold', width: 34 }}&gt;03&lt;/Text&gt;&#13;&#10;              &lt;Text style={{ fontSize: 21, fontWeight: 'bold', color: '#1C1F1A' }}&gt;AI 有明确边界&lt;/Text&gt;&#13;&#10;            &lt;/Box&gt;&#13;&#10;            &lt;Text style={{ fontSize: 17, color: '#55544A', marginTop: 6, lineHeight: 1.7, paddingLeft: 34 }}&gt;&#13;&#10;              不诊断、不开处方、不替用户判断&quot;哪句重要&quot;。判断权留在患者手里。&#13;&#10;            &lt;/Text&gt;&#13;&#10;          &lt;/Box&gt;&#13;&#10;&#13;&#10;          &lt;Box style={{&#13;&#10;            background: '#2F4A2B', borderRadius: 4, paddingTop: 14, paddingBottom: 14,&#13;&#10;            paddingLeft: 18, paddingRight: 18, marginTop: 4,&#13;&#10;          }}&gt;&#13;&#10;            &lt;Text style={{ fontSize: 17, color: '#FFFFFF', lineHeight: 1.6, fontWeight: 'bold' }}&gt;&#13;&#10;              它首先得是个让人愿意在深夜打开的东西，其次才是工具。&#13;&#10;            &lt;/Text&gt;&#13;&#10;          &lt;/Box&gt;&#13;&#10;        &lt;/Box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04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02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方案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71500" y="6667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一个账号，管全家人的健康档案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71500" y="11144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家里每个人是一块小牌子，点开就能对话；天上吊着一块木板，写着全家今天吃了几次药。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71500" y="1466850"/>
            <a:ext cx="6057900" cy="4400550"/>
          </a:xfrm>
          <a:prstGeom prst="rect">
            <a:avLst/>
          </a:prstGeom>
          <a:ln w="12700">
            <a:solidFill>
              <a:srgbClr val="D8D4C4"/>
            </a:solidFill>
            <a:prstDash val="solid"/>
          </a:ln>
        </p:spPr>
        <p:txBody>
          <a:bodyPr/>
          <a:p/>
        </p:txBody>
      </p:sp>
      <p:pic>
        <p:nvPicPr>
          <p:cNvPr id="291" name=""/>
          <p:cNvPicPr>
            <a:picLocks noChangeAspect="1"/>
          </p:cNvPicPr>
          <p:nvPr/>
        </p:nvPicPr>
        <p:blipFill>
          <a:blip r:embed="rId1"/>
          <a:srcRect l="6980" t="0" r="6980" b="0"/>
          <a:stretch>
            <a:fillRect/>
          </a:stretch>
        </p:blipFill>
        <p:spPr>
          <a:xfrm rot="0" flipH="0" flipV="0">
            <a:off x="571500" y="1466850"/>
            <a:ext cx="6057900" cy="4400550"/>
          </a:xfrm>
          <a:prstGeom prst="roundRect">
            <a:avLst>
              <a:gd name="adj" fmla="val 1299"/>
            </a:avLst>
          </a:prstGeom>
          <a:ln/>
        </p:spPr>
      </p:pic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605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　草地首页：左栏六份家庭档案，中间绒球医生，天上吊着用药木牌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915150" y="1466850"/>
            <a:ext cx="4705350" cy="1162050"/>
          </a:xfrm>
          <a:custGeom>
            <a:pathLst>
              <a:path w="494" h="122">
                <a:moveTo>
                  <a:pt x="0" y="121"/>
                </a:moveTo>
                <a:lnTo>
                  <a:pt x="494" y="121"/>
                </a:lnTo>
                <a:lnTo>
                  <a:pt x="494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915150" y="1466850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BF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239000" y="1466850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1F1A"/>
                </a:solidFill>
                <a:latin typeface="Microsoft YaHei"/>
                <a:ea typeface="Microsoft YaHei"/>
              </a:rPr>
              <a:t>一个账号，多份档案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915150" y="1771650"/>
            <a:ext cx="4705350" cy="666750"/>
          </a:xfrm>
          <a:prstGeom prst="rect"/>
        </p:spPr>
        <p:txBody>
          <a:bodyPr wrap="square" lIns="242888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老人不用自己注册。越权在一条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里挡掉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别人的档案和不存在返回同一个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404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915150" y="2714625"/>
            <a:ext cx="4705350" cy="1314450"/>
          </a:xfrm>
          <a:custGeom>
            <a:pathLst>
              <a:path w="494" h="138">
                <a:moveTo>
                  <a:pt x="0" y="137"/>
                </a:moveTo>
                <a:lnTo>
                  <a:pt x="494" y="137"/>
                </a:lnTo>
                <a:lnTo>
                  <a:pt x="494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915150" y="2867025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BF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239000" y="2867025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1F1A"/>
                </a:solidFill>
                <a:latin typeface="Microsoft YaHei"/>
                <a:ea typeface="Microsoft YaHei"/>
              </a:rPr>
              <a:t>三个动作各有入口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915150" y="3171825"/>
            <a:ext cx="4705350" cy="666750"/>
          </a:xfrm>
          <a:prstGeom prst="rect"/>
        </p:spPr>
        <p:txBody>
          <a:bodyPr wrap="square" lIns="242888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吃药有木牌、看病有问诊、复诊有摘要与时间轴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覆盖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吃、看、说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三件事。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915150" y="4276725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BF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239000" y="4276725"/>
            <a:ext cx="1285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75" b="1">
                <a:solidFill>
                  <a:srgbClr val="1C1F1A"/>
                </a:solidFill>
                <a:latin typeface="Microsoft YaHei"/>
                <a:ea typeface="Microsoft YaHei"/>
              </a:rPr>
              <a:t>有明确边界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915150" y="4581525"/>
            <a:ext cx="4705350" cy="666750"/>
          </a:xfrm>
          <a:prstGeom prst="rect"/>
        </p:spPr>
        <p:txBody>
          <a:bodyPr wrap="square" lIns="242888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不诊断、不开处方、不替用户判断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哪句重要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。判断权留在患者手里。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915150" y="5553075"/>
            <a:ext cx="4705350" cy="581025"/>
          </a:xfrm>
          <a:prstGeom prst="roundRect">
            <a:avLst>
              <a:gd name="adj" fmla="val 6557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086600" y="5686425"/>
            <a:ext cx="43624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它首先得是个让人愿意在深夜打开的东西，其次才是工具。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08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2　方案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24, flexDirection: 'column' }}&gt;&#13;&#10;      &lt;Text style={{ fontSize: 34, fontWeight: 'bold', color: '#1C1F1A', fontFamily: 'Microsoft YaHei' }}&gt;&#13;&#10;        吃、看、说：三个高频动作，各有最短路径&#13;&#10;      &lt;/Text&gt;&#13;&#10;      &lt;Text style={{ fontSize: 17, color: '#55544A', marginTop: 6 }}&gt;&#13;&#10;        我们没有按功能列表堆叠，而是先把家庭里真正重复发生的三个动作拆出来，每个动作配一条最省事的路径。&#13;&#10;      &lt;/Text&gt;&#13;&#10;&#13;&#10;      &lt;Box style={{ flexDirection: 'row', marginTop: 26, gap: 18, height: 404 }}&gt;&#13;&#10;        &lt;Box style={{&#13;&#10;          flex: 1, background: '#FAF7EF', borderRadius: 6, border: '1px solid #E2DED0',&#13;&#10;          flexDirection: 'column', overflow: 'hidden',&#13;&#10;        }}&gt;&#13;&#10;          &lt;Box style={{ flexDirection: 'row', alignItems: 'center', background: '#2F4A2B', paddingTop: 14, paddingBottom: 14, paddingLeft: 20 }}&gt;&#13;&#10;            &lt;Text style={{ fontSize: 26, fontWeight: 'bold', color: '#FFFFFF', width: 40, fontFamily: 'Microsoft YaHei' }}&gt;吃&lt;/Text&gt;&#13;&#10;            &lt;Text style={{ fontSize: 15, color: '#A8C09A', letterSpacing: 1 }}&gt;每天重复四次&lt;/Text&gt;&#13;&#10;          &lt;/Box&gt;&#13;&#10;          &lt;Box style={{ paddingTop: 16, paddingBottom: 16, paddingLeft: 20, paddingRight: 20, flexDirection: 'column', flex: 1 }}&gt;&#13;&#10;            &lt;Text style={{ fontSize: 20, fontWeight: 'bold', color: '#1C1F1A' }}&gt;今天该吃什么、吃了没&lt;/Text&gt;&#13;&#10;            &lt;Box style={{ flexDirection: 'column', marginTop: 12, gap: 9 }}&gt;&#13;&#10;              &lt;Text style={{ fontSize: 16, color: '#33352E', lineHeight: 1.5 }}&gt;· 用药计划（药名 / 剂量 / 频次 / 疗程）&lt;/Text&gt;&#13;&#10;              &lt;Text style={{ fontSize: 16, color: '#33352E', lineHeight: 1.5 }}&gt;· 今日待服清单，按人分组&lt;/Text&gt;&#13;&#10;              &lt;Text style={{ fontSize: 16, color: '#33352E', lineHeight: 1.5 }}&gt;· 木牌上一行一次点击打卡&lt;/Text&gt;&#13;&#10;              &lt;Text style={{ fontSize: 16, color: '#33352E', lineHeight: 1.5 }}&gt;· 到点提醒：兔子先说，系统再补&lt;/Text&gt;&#13;&#10;            &lt;/Box&gt;&#13;&#10;          &lt;/Box&gt;&#13;&#10;          &lt;Box style={{ paddingLeft: 20, paddingRight: 20, paddingBottom: 16 }}&gt;&#13;&#10;            &lt;Text style={{ fontSize: 14, color: '#2F4A2B', lineHeight: 1.6, fontWeight: 'bold' }}&gt;&#13;&#10;              最短路径：看板 → 点一行，两个动作&#13;&#10;            &lt;/Text&gt;&#13;&#10;          &lt;/Box&gt;&#13;&#10;        &lt;/Box&gt;&#13;&#10;&#13;&#10;        &lt;Box style={{&#13;&#10;          flex: 1, background: '#FAF7EF', borderRadius: 6, border: '1px solid #E2DED0',&#13;&#10;          flexDirection: 'column', overflow: 'hidden',&#13;&#10;        }}&gt;&#13;&#10;          &lt;Box style={{ flexDirection: 'row', alignItems: 'center', background: '#1F3320', paddingTop: 14, paddingBottom: 14, paddingLeft: 20 }}&gt;&#13;&#10;            &lt;Text style={{ fontSize: 26, fontWeight: 'bold', color: '#FFFFFF', width: 40, fontFamily: 'Microsoft YaHei' }}&gt;看&lt;/Text&gt;&#13;&#10;            &lt;Text style={{ fontSize: 15, color: '#A8C09A', letterSpacing: 1 }}&gt;每次不确定的时候&lt;/Text&gt;&#13;&#10;          &lt;/Box&gt;&#13;&#10;          &lt;Box style={{ paddingTop: 16, paddingBottom: 16, paddingLeft: 20, paddingRight: 20, flexDirection: 'column', flex: 1 }}&gt;&#13;&#10;            &lt;Text style={{ fontSize: 20, fontWeight: 'bold', color: '#1C1F1A' }}&gt;这算不算严重、要不要去医院&lt;/Text&gt;&#13;&#10;            &lt;Box style={{ flexDirection: 'column', marginTop: 12, gap: 9 }}&gt;&#13;&#10;              &lt;Text style={{ fontSize: 16, color: '#33352E', lineHeight: 1.5 }}&gt;· 个体化问诊（带档案与在服药物）&lt;/Text&gt;&#13;&#10;              &lt;Text style={{ fontSize: 16, color: '#33352E', lineHeight: 1.5 }}&gt;· 11 条红旗规则，命中即转诊&lt;/Text&gt;&#13;&#10;              &lt;Text style={{ fontSize: 16, color: '#33352E', lineHeight: 1.5 }}&gt;· 事实核对：AI 提，患者点头&lt;/Text&gt;&#13;&#10;              &lt;Text style={{ fontSize: 16, color: '#33352E', lineHeight: 1.5 }}&gt;· 科普库 90 病 + 73 药&lt;/Text&gt;&#13;&#10;            &lt;/Box&gt;&#13;&#10;          &lt;/Box&gt;&#13;&#10;          &lt;Box style={{ paddingLeft: 20, paddingRight: 20, paddingBottom: 16 }}&gt;&#13;&#10;            &lt;Text style={{ fontSize: 14, color: '#2F4A2B', lineHeight: 1.6, fontWeight: 'bold' }}&gt;&#13;&#10;              最短路径：点开一个人，一句话就问&#13;&#10;            &lt;/Text&gt;&#13;&#10;          &lt;/Box&gt;&#13;&#10;        &lt;/Box&gt;&#13;&#10;&#13;&#10;        &lt;Box style={{&#13;&#10;          flex: 1, background: '#FAF7EF', borderRadius: 6, border: '1px solid #E2DED0',&#13;&#10;          flexDirection: 'column', overflow: 'hidden',&#13;&#10;        }}&gt;&#13;&#10;          &lt;Box style={{ flexDirection: 'row', alignItems: 'center', background: '#3A5A34', paddingTop: 14, paddingBottom: 14, paddingLeft: 20 }}&gt;&#13;&#10;            &lt;Text style={{ fontSize: 26, fontWeight: 'bold', color: '#FFFFFF', width: 40, fontFamily: 'Microsoft YaHei' }}&gt;说&lt;/Text&gt;&#13;&#10;            &lt;Text style={{ fontSize: 15, color: '#A8C09A', letterSpacing: 1 }}&gt;复诊前那一晚&lt;/Text&gt;&#13;&#10;          &lt;/Box&gt;&#13;&#10;          &lt;Box style={{ paddingTop: 16, paddingBottom: 16, paddingLeft: 20, paddingRight: 20, flexDirection: 'column', flex: 1 }}&gt;&#13;&#10;            &lt;Text style={{ fontSize: 20, fontWeight: 'bold', color: '#1C1F1A' }}&gt;怎么把三个月讲成三分钟&lt;/Text&gt;&#13;&#10;            &lt;Box style={{ flexDirection: 'column', marginTop: 12, gap: 9 }}&gt;&#13;&#10;              &lt;Text style={{ fontSize: 16, color: '#33352E', lineHeight: 1.5 }}&gt;· 病程时间轴（可投影给医生看）&lt;/Text&gt;&#13;&#10;              &lt;Text style={{ fontSize: 16, color: '#33352E', lineHeight: 1.5 }}&gt;· 就诊摘要 A4 单页，可打印&lt;/Text&gt;&#13;&#10;              &lt;Text style={{ fontSize: 16, color: '#33352E', lineHeight: 1.5 }}&gt;· 纯文本版，复制到微信不丢过敏史&lt;/Text&gt;&#13;&#10;              &lt;Text style={{ fontSize: 16, color: '#33352E', lineHeight: 1.5 }}&gt;· 复诊日历与逾期提示&lt;/Text&gt;&#13;&#10;            &lt;/Box&gt;&#13;&#10;          &lt;/Box&gt;&#13;&#10;          &lt;Box style={{ paddingLeft: 20, paddingRight: 20, paddingBottom: 16 }}&gt;&#13;&#10;            &lt;Text style={{ fontSize: 14, color: '#2F4A2B', lineHeight: 1.6, fontWeight: 'bold' }}&gt;&#13;&#10;              最短路径：一张纸，递给医生&#13;&#10;            &lt;/Text&gt;&#13;&#10;          &lt;/Box&gt;&#13;&#10;        &lt;/Box&gt;&#13;&#10;      &lt;/Box&gt;&#13;&#10;&#13;&#10;      &lt;Box style={{&#13;&#10;        marginTop: 22, background: '#2F4A2B', borderRadius: 4,&#13;&#10;        paddingTop: 13, paddingBottom: 13, paddingLeft: 24, paddingRight: 24,&#13;&#10;        flexDirection: 'row', alignItems: 'center',&#13;&#10;      }}&gt;&#13;&#10;        &lt;Text style={{ fontSize: 14, color: '#A8C09A', letterSpacing: 2, width: 110 }}&gt;设计原则&lt;/Text&gt;&#13;&#10;        &lt;Text style={{ fontSize: 18, color: '#FFFFFF', fontWeight: 'bold', flex: 1 }}&gt;&#13;&#10;          主操作必须在首屏一次点击内完成；只有必须解释的东西，才允许进二级页面。&#13;&#10;        &lt;/Text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05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02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方案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71500" y="6667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吃、看、说：三个高频动作，各有最短路径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71500" y="11144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我们没有按功能列表堆叠，而是先把家庭里真正重复发生的三个动作拆出来，每个动作配一条最省事的路径。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71500" y="1562100"/>
            <a:ext cx="3571875" cy="3848100"/>
          </a:xfrm>
          <a:prstGeom prst="roundRect">
            <a:avLst>
              <a:gd name="adj" fmla="val 1600"/>
            </a:avLst>
          </a:prstGeom>
          <a:solidFill>
            <a:srgbClr val="FAF7EF"/>
          </a:solidFill>
          <a:ln w="12700">
            <a:solidFill>
              <a:srgbClr val="E2DED0"/>
            </a:solidFill>
            <a:prstDash val="solid"/>
          </a:ln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571500" y="1562100"/>
            <a:ext cx="3571875" cy="571500"/>
          </a:xfrm>
          <a:custGeom>
            <a:pathLst>
              <a:path w="375" h="60">
                <a:moveTo>
                  <a:pt x="369" y="0"/>
                </a:moveTo>
                <a:cubicBezTo>
                  <a:pt x="372" y="0"/>
                  <a:pt x="375" y="3"/>
                  <a:pt x="375" y="6"/>
                </a:cubicBezTo>
                <a:lnTo>
                  <a:pt x="375" y="60"/>
                </a:lnTo>
                <a:lnTo>
                  <a:pt x="0" y="60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62000" y="169545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吃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43000" y="176212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A8C09A"/>
                </a:solidFill>
                <a:latin typeface="Microsoft YaHei"/>
                <a:ea typeface="Microsoft YaHei"/>
              </a:rPr>
              <a:t>每天重复四次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3190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C1F1A"/>
                </a:solidFill>
                <a:latin typeface="Microsoft YaHei"/>
                <a:ea typeface="Microsoft YaHei"/>
              </a:rPr>
              <a:t>今天该吃什么、吃了没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62000" y="262890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用药计划（药名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剂量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频次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疗程）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62000" y="299085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今日待服清单，按人分组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62000" y="335280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木牌上一行一次点击打卡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62000" y="371475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到点提醒：兔子先说，系统再补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62000" y="5000625"/>
            <a:ext cx="31908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2F4A2B"/>
                </a:solidFill>
                <a:latin typeface="Microsoft YaHei"/>
                <a:ea typeface="Microsoft YaHei"/>
              </a:rPr>
              <a:t>最短路径：看板</a:t>
            </a:r>
            <a:r>
              <a:rPr lang="en-US" sz="1050" b="1">
                <a:solidFill>
                  <a:srgbClr val="2F4A2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 b="1">
                <a:solidFill>
                  <a:srgbClr val="2F4A2B"/>
                </a:solidFill>
                <a:latin typeface="Microsoft YaHei"/>
                <a:ea typeface="Microsoft YaHei"/>
              </a:rPr>
              <a:t>点一行，两个动作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314825" y="1562100"/>
            <a:ext cx="3562350" cy="3848100"/>
          </a:xfrm>
          <a:prstGeom prst="roundRect">
            <a:avLst>
              <a:gd name="adj" fmla="val 1604"/>
            </a:avLst>
          </a:prstGeom>
          <a:solidFill>
            <a:srgbClr val="FAF7EF"/>
          </a:solidFill>
          <a:ln w="12700">
            <a:solidFill>
              <a:srgbClr val="E2DED0"/>
            </a:solidFill>
            <a:prstDash val="solid"/>
          </a:ln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4314825" y="1562100"/>
            <a:ext cx="3562350" cy="571500"/>
          </a:xfrm>
          <a:custGeom>
            <a:pathLst>
              <a:path w="374" h="60">
                <a:moveTo>
                  <a:pt x="368" y="0"/>
                </a:moveTo>
                <a:cubicBezTo>
                  <a:pt x="371" y="0"/>
                  <a:pt x="374" y="3"/>
                  <a:pt x="374" y="6"/>
                </a:cubicBezTo>
                <a:lnTo>
                  <a:pt x="374" y="60"/>
                </a:lnTo>
                <a:lnTo>
                  <a:pt x="0" y="60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1F3320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505325" y="169545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看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886325" y="176212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A8C09A"/>
                </a:solidFill>
                <a:latin typeface="Microsoft YaHei"/>
                <a:ea typeface="Microsoft YaHei"/>
              </a:rPr>
              <a:t>每次不确定的时候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505325" y="2286000"/>
            <a:ext cx="318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C1F1A"/>
                </a:solidFill>
                <a:latin typeface="Microsoft YaHei"/>
                <a:ea typeface="Microsoft YaHei"/>
              </a:rPr>
              <a:t>这算不算严重、要不要去医院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505325" y="262890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个体化问诊（带档案与在服药物）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505325" y="299085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11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条红旗规则，命中即转诊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505325" y="335280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事实核对：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提，患者点头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505325" y="371475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科普库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病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 + 73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药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505325" y="500062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2F4A2B"/>
                </a:solidFill>
                <a:latin typeface="Microsoft YaHei"/>
                <a:ea typeface="Microsoft YaHei"/>
              </a:rPr>
              <a:t>最短路径：点开一个人，一句话就问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8048625" y="1562100"/>
            <a:ext cx="3571875" cy="3848100"/>
          </a:xfrm>
          <a:prstGeom prst="roundRect">
            <a:avLst>
              <a:gd name="adj" fmla="val 1600"/>
            </a:avLst>
          </a:prstGeom>
          <a:solidFill>
            <a:srgbClr val="FAF7EF"/>
          </a:solidFill>
          <a:ln w="12700">
            <a:solidFill>
              <a:srgbClr val="E2DED0"/>
            </a:solidFill>
            <a:prstDash val="solid"/>
          </a:ln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8048625" y="1562100"/>
            <a:ext cx="3571875" cy="571500"/>
          </a:xfrm>
          <a:custGeom>
            <a:pathLst>
              <a:path w="375" h="60">
                <a:moveTo>
                  <a:pt x="369" y="0"/>
                </a:moveTo>
                <a:cubicBezTo>
                  <a:pt x="372" y="0"/>
                  <a:pt x="375" y="3"/>
                  <a:pt x="375" y="6"/>
                </a:cubicBezTo>
                <a:lnTo>
                  <a:pt x="375" y="60"/>
                </a:lnTo>
                <a:lnTo>
                  <a:pt x="0" y="60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3A5A34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239125" y="169545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说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620125" y="176212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A8C09A"/>
                </a:solidFill>
                <a:latin typeface="Microsoft YaHei"/>
                <a:ea typeface="Microsoft YaHei"/>
              </a:rPr>
              <a:t>复诊前那一晚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239125" y="2286000"/>
            <a:ext cx="3190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C1F1A"/>
                </a:solidFill>
                <a:latin typeface="Microsoft YaHei"/>
                <a:ea typeface="Microsoft YaHei"/>
              </a:rPr>
              <a:t>怎么把三个月讲成三分钟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239125" y="262890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病程时间轴（可投影给医生看）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239125" y="299085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就诊摘要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 A4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单页，可打印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239125" y="335280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纯文本版，复制到微信不丢过敏史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239125" y="3714750"/>
            <a:ext cx="3190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复诊日历与逾期提示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239125" y="5000625"/>
            <a:ext cx="31908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2F4A2B"/>
                </a:solidFill>
                <a:latin typeface="Microsoft YaHei"/>
                <a:ea typeface="Microsoft YaHei"/>
              </a:rPr>
              <a:t>最短路径：一张纸，递给医生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71500" y="561975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00100" y="57721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A8C09A"/>
                </a:solidFill>
                <a:latin typeface="Microsoft YaHei"/>
                <a:ea typeface="Microsoft YaHei"/>
              </a:rPr>
              <a:t>设计原则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847850" y="5743575"/>
            <a:ext cx="9544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主操作必须在首屏一次点击内完成；只有必须解释的东西，才允许进二级页面。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51" name="" descr="&lt;Slide style={{ width: 1280, height: 720, background: '#FFFFFF', padding: 0 }}&gt;&#10;  &lt;Box style={{ flexDirection: 'column', width: 1280, height: 720 }}&gt;&#10;    &lt;Box style={{&#10;      width: 1280, height: 44, background: '#F3F1E7', flexDirection: 'row',&#10;      alignItems: 'center', justifyContent: 'space-between',&#10;      paddingLeft: 60, paddingRight: 60,&#10;    }}&gt;&#10;      &lt;Text style={{ fontSize: 15, color: '#2F4A2B', letterSpacing: 2, fontWeight: 'bold' }}&gt;03　架构&lt;/Text&gt;&#10;      &lt;Text style={{ fontSize: 14, color: '#8B8A7E', letterSpacing: 2 }}&gt;MedAI&lt;/Text&gt;&#10;    &lt;/Box&gt;&#10;    &lt;Box style={{ width: 1280, height: 2, background: '#2F4A2B' }} /&gt;&#10;&#10;    &lt;Box style={{ paddingLeft: 60, paddingRight: 60, paddingTop: 22, flexDirection: 'column' }}&gt;&#10;      &lt;Text style={{ fontSize: 34, fontWeight: 'bold', color: '#1C1F1A', fontFamily: 'Microsoft YaHei' }}&gt;&#10;        五层分离：模型只有一条出口，安全判断不在这条路上&#10;      &lt;/Text&gt;&#10;      &lt;Text style={{ fontSize: 17, color: '#55544A', marginTop: 6 }}&gt;&#10;        23 个接口统一走&quot;校验输入 → 认门 → 查配置 → 干活&quot;四步；业务代码不直接调用模型。&#10;      &lt;/Text&gt;&#10;&#10;      &lt;Box style={{ flexDirection: 'column', marginTop: 22, gap: 8 }}&gt;&#10;        &lt;Box style={{&#10;          flexDirection: 'row', background: '#FAF7EF', borderLeft: '5px solid #8ABFEB', borderRadius: 3,&#10;          paddingTop: 14, paddingBottom: 14, paddingLeft: 20, paddingRight: 20, alignItems: 'center',&#10;        }}&gt;&#10;          &lt;Box style={{ width: 130, flexDirection: 'column' }}&gt;&#10;            &lt;Text style={{ fontSize: 19, fontWeight: 'bold', color: '#1C1F1A' }}&gt;表现层&lt;/Text&gt;&#10;            &lt;Text style={{ fontSize: 12, color: '#8B8A7E', marginTop: 2 }}&gt;浏览器&lt;/Text&gt;&#10;          &lt;/Box&gt;&#10;          &lt;Text style={{ fontSize: 17, color: '#33352E', flex: 1, lineHeight: 1.55 }}&gt;&#10;            3D 草地（Three.js 实例化渲染）· 档案栏 · 问诊面板 · 科普库&#10;          &lt;/Text&gt;&#10;          &lt;Text style={{ fontSize: 13, color: '#5A7A9B', width: 150, lineHeight: 1.5 }}&gt;&#10;            同源 fetch&lt;br /&gt;SSE 流式接收&#10;          &lt;/Text&gt;&#10;        &lt;/Box&gt;&#10;&#10;        &lt;Box style={{&#10;          flexDirection: 'row', background: '#FAF7EF', borderLeft: '5px solid #8ABFEB', borderRadius: 3,&#10;          paddingTop: 14, paddingBottom: 14, paddingLeft: 20, paddingRight: 20, alignItems: 'center',&#10;        }}&gt;&#10;          &lt;Box style={{ width: 130, flexDirection: 'column' }}&gt;&#10;            &lt;Text style={{ fontSize: 19, fontWeight: 'bold', color: '#1C1F1A' }}&gt;接口层&lt;/Text&gt;&#10;            &lt;Text style={{ fontSize: 12, color: '#8B8A7E', marginTop: 2 }}&gt;23 个路由&lt;/Text&gt;&#10;          &lt;/Box&gt;&#10;          &lt;Text style={{ fontSize: 17, color: '#33352E', flex: 1, lineHeight: 1.55 }}&gt;&#10;            Route Handler：统一入口守卫 &lt;span style={{ fontWeight: 'bold' }}&gt;requireUser()&lt;/span&gt;，&#10;            所有查询强制带 &lt;span style={{ fontWeight: 'bold' }}&gt;ownerId&lt;/span&gt;&#10;          &lt;/Text&gt;&#10;          &lt;Text style={{ fontSize: 13, color: '#5A7A9B', width: 150, lineHeight: 1.5 }}&gt;&#10;            400 / 404 / 429 / 503&lt;br /&gt;四类错误分开返回&#10;          &lt;/Text&gt;&#10;        &lt;/Box&gt;&#10;&#10;        &lt;Box style={{&#10;          flexDirection: 'row', background: '#FAF7EF', borderLeft: '5px solid #6E8F5E', borderRadius: 3,&#10;          paddingTop: 14, paddingBottom: 14, paddingLeft: 20, paddingRight: 20, alignItems: 'center',&#10;        }}&gt;&#10;          &lt;Box style={{ width: 130, flexDirection: 'column' }}&gt;&#10;            &lt;Text style={{ fontSize: 19, fontWeight: 'bold', color: '#1C1F1A' }}&gt;领域层&lt;/Text&gt;&#10;            &lt;Text style={{ fontSize: 12, color: '#8B8A7E', marginTop: 2 }}&gt;纯函数 / 纯本地&lt;/Text&gt;&#10;          &lt;/Box&gt;&#10;          &lt;Text style={{ fontSize: 17, color: '#33352E', flex: 1, lineHeight: 1.55 }}&gt;&#10;            红旗规则（11 条）· 提示词装配 · 事实核对（diffFacts）· 排程与依从性 · 就诊摘要&#10;          &lt;/Text&gt;&#10;          &lt;Text style={{ fontSize: 13, color: '#4F6B42', width: 150, lineHeight: 1.5 }}&gt;&#10;            不依赖模型&lt;br /&gt;可单测、可解释&#10;          &lt;/Text&gt;&#10;        &lt;/Box&gt;&#10;&#10;        &lt;Box style={{&#10;          flexDirection: 'row', background: '#2F4A2B', borderRadius: 3,&#10;          paddingTop: 15, paddingBottom: 15, paddingLeft: 20, paddingRight: 20, alignItems: 'center',&#10;        }}&gt;&#10;          &lt;Box style={{ width: 130, flexDirection: 'column' }}&gt;&#10;            &lt;Text style={{ fontSize: 19, fontWeight: 'bold', color: '#FFFFFF' }}&gt;AI 适配层&lt;/Text&gt;&#10;            &lt;Text style={{ fontSize: 12, color: '#A8C09A', marginTop: 2 }}&gt;唯一出口&lt;/Text&gt;&#10;          &lt;/Box&gt;&#10;          &lt;Text style={{ fontSize: 17, color: '#FFFFFF', flex: 1, lineHeight: 1.55 }}&gt;&#10;            lib/ai.ts：OpenAI 兼容协议 · 流式与非流式共用一条通路 · 90 秒首包超时 ·&#10;            换厂商只改环境变量&#10;          &lt;/Text&gt;&#10;          &lt;Text style={{ fontSize: 13, color: '#C6D8B8', width: 150, lineHeight: 1.5 }}&gt;&#10;            业务代码不出现&lt;br /&gt;裸 fetch 模型&#10;          &lt;/Text&gt;&#10;        &lt;/Box&gt;&#10;&#10;        &lt;Box style={{&#10;          flexDirection: 'row', background: '#FAF7EF', borderLeft: '5px solid #9AA5B5', borderRadius: 3,&#10;          paddingTop: 14, paddingBottom: 14, paddingLeft: 20, paddingRight: 20, alignItems: 'center',&#10;        }}&gt;&#10;          &lt;Box style={{ width: 130, flexDirection: 'column' }}&gt;&#10;            &lt;Text style={{ fontSize: 19, fontWeight: 'bold', color: '#1C1F1A' }}&gt;数据层&lt;/Text&gt;&#10;            &lt;Text style={{ fontSize: 12, color: '#8B8A7E', marginTop: 2 }}&gt;SQLite / 可切库&lt;/Text&gt;&#10;          &lt;/Box&gt;&#10;          &lt;Text style={{ fontSize: 17, color: '#33352E', flex: 1, lineHeight: 1.55 }}&gt;&#10;            Prisma 6 + SQLite：WAL · busy_timeout 5s · 连接池压到 1；附件落本地磁盘&#10;          &lt;/Text&gt;&#10;          &lt;Text style={{ fontSize: 13, color: '#5A6B7D', width: 150, lineHeight: 1.5 }}&gt;&#10;            schema.postgres 已备&lt;br /&gt;改连接串即可切&#10;          &lt;/Text&gt;&#10;        &lt;/Box&gt;&#10;      &lt;/Box&gt;&#10;&#10;      &lt;Box style={{&#10;        marginTop: 18, flexDirection: 'row', alignItems: 'center',&#10;        background: '#FAF7EF', borderLeft: '4px solid #C0473C', paddingTop: 12, paddingBottom: 12,&#10;        paddingLeft: 18, paddingRight: 18,&#10;      }}&gt;&#10;        &lt;Text style={{ fontSize: 17, color: '#33352E', lineHeight: 1.6 }}&gt;&#10;          &lt;span style={{ fontWeight: 'bold', color: '#C0473C' }}&gt;注意第 3 层和第 4 层是分开的：&lt;/span&gt;&#10;          红旗判断、冲突判定、排程计算都在领域层完成，不经过 AI 适配层 ——&#10;          模型挂了、Key 过期了、断网了，这些能力照样在。&#10;        &lt;/Text&gt;&#10;      &lt;/Box&gt;&#10;    &lt;/Box&gt;&#10;&#10;    &lt;Box style={{&#10;      position: 'absolute', bottom: 0, left: 0, width: 1280, height: 40,&#10;      flexDirection: 'row', alignItems: 'center', justifyContent: 'space-between',&#10;      paddingLeft: 60, paddingRight: 60,&#10;    }}&gt;&#10;      &lt;Text style={{ fontSize: 13, color: '#8B8A7E' }}&gt;广东医科大学 · MedAI&lt;/Text&gt;&#10;      &lt;Text style={{ fontSize: 13, color: '#2F4A2B' }}&gt;06 / 14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03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架构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1500" y="647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五层分离：模型只有一条出口，安全判断不在这条路上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1500" y="109537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23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个接口统一走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校验输入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认门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查配置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干活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四步；业务代码不直接调用模型。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19125" y="1504950"/>
            <a:ext cx="11049000" cy="714375"/>
          </a:xfrm>
          <a:prstGeom prst="roundRect">
            <a:avLst>
              <a:gd name="adj" fmla="val 4000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619125" y="1504950"/>
            <a:ext cx="11049000" cy="714375"/>
          </a:xfrm>
          <a:custGeom>
            <a:pathLst>
              <a:path w="1160" h="75">
                <a:moveTo>
                  <a:pt x="5" y="75"/>
                </a:moveTo>
                <a:cubicBezTo>
                  <a:pt x="4" y="75"/>
                  <a:pt x="3" y="75"/>
                  <a:pt x="1" y="75"/>
                </a:cubicBezTo>
                <a:cubicBezTo>
                  <a:pt x="1" y="74"/>
                  <a:pt x="0" y="73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ABFEB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09625" y="1676400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表现层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09625" y="191452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浏览器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2047875" y="1714500"/>
            <a:ext cx="79533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3D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草地（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Three.js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实例化渲染）·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档案栏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问诊面板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科普库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001250" y="1638300"/>
            <a:ext cx="14287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A7A9B"/>
                </a:solidFill>
                <a:latin typeface="Microsoft YaHei"/>
                <a:ea typeface="Microsoft YaHei"/>
              </a:rPr>
              <a:t>同源</a:t>
            </a:r>
            <a:r>
              <a:rPr lang="en-US" sz="975">
                <a:solidFill>
                  <a:srgbClr val="5A7A9B"/>
                </a:solidFill>
                <a:latin typeface="Microsoft YaHei"/>
                <a:ea typeface="Microsoft YaHei"/>
              </a:rPr>
              <a:t xml:space="preserve"> fetch</a:t>
            </a:r>
            <a:endParaRPr/>
          </a:p>
          <a:p>
            <a:pPr>
              <a:lnSpc>
                <a:spcPct val="150000"/>
              </a:lnSpc>
            </a:pPr>
            <a:r>
              <a:rPr lang="en-US" sz="975">
                <a:solidFill>
                  <a:srgbClr val="5A7A9B"/>
                </a:solidFill>
                <a:latin typeface="Microsoft YaHei"/>
                <a:ea typeface="Microsoft YaHei"/>
              </a:rPr>
              <a:t xml:space="preserve">SSE </a:t>
            </a:r>
            <a:r>
              <a:rPr lang="zh-CN" sz="975">
                <a:solidFill>
                  <a:srgbClr val="5A7A9B"/>
                </a:solidFill>
                <a:latin typeface="Microsoft YaHei"/>
                <a:ea typeface="Microsoft YaHei"/>
              </a:rPr>
              <a:t>流式接收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19125" y="2295525"/>
            <a:ext cx="11049000" cy="714375"/>
          </a:xfrm>
          <a:prstGeom prst="roundRect">
            <a:avLst>
              <a:gd name="adj" fmla="val 4000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19125" y="2295525"/>
            <a:ext cx="11049000" cy="714375"/>
          </a:xfrm>
          <a:custGeom>
            <a:pathLst>
              <a:path w="1160" h="75">
                <a:moveTo>
                  <a:pt x="5" y="75"/>
                </a:moveTo>
                <a:cubicBezTo>
                  <a:pt x="4" y="75"/>
                  <a:pt x="3" y="75"/>
                  <a:pt x="1" y="75"/>
                </a:cubicBezTo>
                <a:cubicBezTo>
                  <a:pt x="1" y="74"/>
                  <a:pt x="0" y="73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ABFEB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9625" y="24669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接口层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09625" y="270510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23 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个路由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2047875" y="2505075"/>
            <a:ext cx="79533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>Route Handler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：统一入口守卫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33352E"/>
                </a:solidFill>
                <a:latin typeface="Microsoft YaHei"/>
                <a:ea typeface="Microsoft YaHei"/>
              </a:rPr>
              <a:t>requireUser()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所有查询强制带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33352E"/>
                </a:solidFill>
                <a:latin typeface="Microsoft YaHei"/>
                <a:ea typeface="Microsoft YaHei"/>
              </a:rPr>
              <a:t>ownerId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001250" y="2428875"/>
            <a:ext cx="14287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A7A9B"/>
                </a:solidFill>
                <a:latin typeface="Microsoft YaHei"/>
                <a:ea typeface="Microsoft YaHei"/>
              </a:rPr>
              <a:t>400 / 404 / 429 / 503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A7A9B"/>
                </a:solidFill>
                <a:latin typeface="Microsoft YaHei"/>
                <a:ea typeface="Microsoft YaHei"/>
              </a:rPr>
              <a:t>四类错误分开返回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19125" y="3086100"/>
            <a:ext cx="11049000" cy="714375"/>
          </a:xfrm>
          <a:prstGeom prst="roundRect">
            <a:avLst>
              <a:gd name="adj" fmla="val 4000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19125" y="3086100"/>
            <a:ext cx="11049000" cy="714375"/>
          </a:xfrm>
          <a:custGeom>
            <a:pathLst>
              <a:path w="1160" h="75">
                <a:moveTo>
                  <a:pt x="5" y="75"/>
                </a:moveTo>
                <a:cubicBezTo>
                  <a:pt x="4" y="75"/>
                  <a:pt x="3" y="75"/>
                  <a:pt x="1" y="75"/>
                </a:cubicBezTo>
                <a:cubicBezTo>
                  <a:pt x="1" y="74"/>
                  <a:pt x="0" y="73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6E8F5E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09625" y="3257550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领域层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09625" y="34956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纯函数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纯本地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2047875" y="3295650"/>
            <a:ext cx="79533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红旗规则（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条）·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提示词装配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事实核对（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>diffFacts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）·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排程与依从性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就诊摘要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001250" y="3219450"/>
            <a:ext cx="14287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F6B42"/>
                </a:solidFill>
                <a:latin typeface="Microsoft YaHei"/>
                <a:ea typeface="Microsoft YaHei"/>
              </a:rPr>
              <a:t>不依赖模型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4F6B42"/>
                </a:solidFill>
                <a:latin typeface="Microsoft YaHei"/>
                <a:ea typeface="Microsoft YaHei"/>
              </a:rPr>
              <a:t>可单测、可解释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71500" y="3876675"/>
            <a:ext cx="11049000" cy="733425"/>
          </a:xfrm>
          <a:prstGeom prst="roundRect">
            <a:avLst>
              <a:gd name="adj" fmla="val 3896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62000" y="4057650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适配层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62000" y="42957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8C09A"/>
                </a:solidFill>
                <a:latin typeface="Microsoft YaHei"/>
                <a:ea typeface="Microsoft YaHei"/>
              </a:rPr>
              <a:t>唯一出口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2000250" y="4095750"/>
            <a:ext cx="80010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lib/ai.ts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兼容协议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流式与非流式共用一条通路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90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秒首包超时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换厂商只改环境变量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0001250" y="4019550"/>
            <a:ext cx="14287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C6D8B8"/>
                </a:solidFill>
                <a:latin typeface="Microsoft YaHei"/>
                <a:ea typeface="Microsoft YaHei"/>
              </a:rPr>
              <a:t>业务代码不出现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C6D8B8"/>
                </a:solidFill>
                <a:latin typeface="Microsoft YaHei"/>
                <a:ea typeface="Microsoft YaHei"/>
              </a:rPr>
              <a:t>裸</a:t>
            </a:r>
            <a:r>
              <a:rPr lang="en-US" sz="975">
                <a:solidFill>
                  <a:srgbClr val="C6D8B8"/>
                </a:solidFill>
                <a:latin typeface="Microsoft YaHei"/>
                <a:ea typeface="Microsoft YaHei"/>
              </a:rPr>
              <a:t xml:space="preserve"> fetch </a:t>
            </a:r>
            <a:r>
              <a:rPr lang="zh-CN" sz="975">
                <a:solidFill>
                  <a:srgbClr val="C6D8B8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19125" y="4686300"/>
            <a:ext cx="11049000" cy="714375"/>
          </a:xfrm>
          <a:prstGeom prst="roundRect">
            <a:avLst>
              <a:gd name="adj" fmla="val 4000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619125" y="4686300"/>
            <a:ext cx="11049000" cy="714375"/>
          </a:xfrm>
          <a:custGeom>
            <a:pathLst>
              <a:path w="1160" h="75">
                <a:moveTo>
                  <a:pt x="5" y="75"/>
                </a:moveTo>
                <a:cubicBezTo>
                  <a:pt x="4" y="75"/>
                  <a:pt x="3" y="75"/>
                  <a:pt x="1" y="75"/>
                </a:cubicBezTo>
                <a:cubicBezTo>
                  <a:pt x="1" y="74"/>
                  <a:pt x="0" y="73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9AA5B5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09625" y="4857750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09625" y="50958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SQLite / 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可切库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2047875" y="4895850"/>
            <a:ext cx="79533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>Prisma 6 + SQLite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WAL · busy_timeout 5s ·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连接池压到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；附件落本地磁盘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0001250" y="4819650"/>
            <a:ext cx="14287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A6B7D"/>
                </a:solidFill>
                <a:latin typeface="Microsoft YaHei"/>
                <a:ea typeface="Microsoft YaHei"/>
              </a:rPr>
              <a:t xml:space="preserve">schema.postgres </a:t>
            </a:r>
            <a:r>
              <a:rPr lang="zh-CN" sz="975">
                <a:solidFill>
                  <a:srgbClr val="5A6B7D"/>
                </a:solidFill>
                <a:latin typeface="Microsoft YaHei"/>
                <a:ea typeface="Microsoft YaHei"/>
              </a:rPr>
              <a:t>已备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D"/>
                </a:solidFill>
                <a:latin typeface="Microsoft YaHei"/>
                <a:ea typeface="Microsoft YaHei"/>
              </a:rPr>
              <a:t>改连接串即可切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5572125"/>
            <a:ext cx="11049000" cy="857250"/>
          </a:xfrm>
          <a:prstGeom prst="rect">
            <a:avLst/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571500" y="5572125"/>
            <a:ext cx="11087100" cy="857250"/>
          </a:xfrm>
          <a:custGeom>
            <a:pathLst>
              <a:path w="1164" h="90">
                <a:moveTo>
                  <a:pt x="0" y="0"/>
                </a:moveTo>
                <a:lnTo>
                  <a:pt x="4" y="0"/>
                </a:lnTo>
                <a:lnTo>
                  <a:pt x="4" y="90"/>
                </a:lnTo>
                <a:lnTo>
                  <a:pt x="0" y="90"/>
                </a:lnTo>
                <a:close/>
              </a:path>
            </a:pathLst>
          </a:custGeom>
          <a:solidFill>
            <a:srgbClr val="C0473C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81050" y="5686425"/>
            <a:ext cx="10668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注意第</a:t>
            </a:r>
            <a:r>
              <a:rPr lang="en-US" sz="1275" b="1">
                <a:solidFill>
                  <a:srgbClr val="C0473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层和第</a:t>
            </a:r>
            <a:r>
              <a:rPr lang="en-US" sz="1275" b="1">
                <a:solidFill>
                  <a:srgbClr val="C0473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75" b="1">
                <a:solidFill>
                  <a:srgbClr val="C0473C"/>
                </a:solidFill>
                <a:latin typeface="Microsoft YaHei"/>
                <a:ea typeface="Microsoft YaHei"/>
              </a:rPr>
              <a:t>层是分开的：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红旗判断、冲突判定、排程计算都在领域层完成，不经过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适配层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模型挂了、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Key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过期了、断网了，这些能力照样在。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93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4　AI 判断一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22, flexDirection: 'column' }}&gt;&#13;&#10;      &lt;Text style={{ fontSize: 34, fontWeight: 'bold', color: '#1C1F1A', fontFamily: 'Microsoft YaHei' }}&gt;&#13;&#10;        个体化靠提示词装配，不做微调&#13;&#10;      &lt;/Text&gt;&#13;&#10;      &lt;Text style={{ fontSize: 17, color: '#55544A', marginTop: 6 }}&gt;&#13;&#10;        同一个问题，&quot;头晕&quot;对 27 岁和 72 岁、对服降压药和不服药的人，答案是四件不同的事。&#13;&#10;      &lt;/Text&gt;&#13;&#10;&#13;&#10;      &lt;Box style={{ flexDirection: 'row', marginTop: 16 }}&gt;&#13;&#10;        &lt;Box style={{ width: 586, flexDirection: 'column' }}&gt;&#13;&#10;          &lt;Image src=&quot;assets/consult.png&quot; style={{ width: 586, height: 408, objectFit: 'cover', borderRadius: 6, border: '1px solid #D8D4C4' }} /&gt;&#13;&#10;          &lt;Text style={{ fontSize: 12, color: '#8B8A7E', marginTop: 8, lineHeight: 1.5 }}&gt;&#13;&#10;            图 2　没有输入任何背景信息，回答里直接出现了患者姓名、年龄与在服药物&#13;&#10;          &lt;/Text&gt;&#13;&#10;        &lt;/Box&gt;&#13;&#10;&#13;&#10;        &lt;Box style={{ flex: 1, flexDirection: 'column', paddingLeft: 28 }}&gt;&#13;&#10;          &lt;Text style={{ fontSize: 19, fontWeight: 'bold', color: '#2F4A2B', marginBottom: 10 }}&gt;&#13;&#10;            每次对话前拼四样东西&#13;&#10;          &lt;/Text&gt;&#13;&#10;&#13;&#10;          &lt;Box style={{ flexDirection: 'row', alignItems: 'center', paddingBottom: 9 }}&gt;&#13;&#10;            &lt;Box style={{ width: 24, height: 24, borderRadius: 12, background: '#2F4A2B', alignItems: 'center', justifyContent: 'center' }}&gt;&lt;Text style={{ fontSize: 13, color: '#FFFFFF', fontWeight: 'bold' }}&gt;1&lt;/Text&gt;&lt;/Box&gt;&#13;&#10;            &lt;Text style={{ fontSize: 17, color: '#33352E', marginLeft: 12, flex: 1 }}&gt;&#13;&#10;              档案：年龄 / 体型 / 血型 / 过敏史 / 病史 / 主诉&#13;&#10;            &lt;/Text&gt;&#13;&#10;          &lt;/Box&gt;&#13;&#10;          &lt;Box style={{ flexDirection: 'row', alignItems: 'center', paddingBottom: 9 }}&gt;&#13;&#10;            &lt;Box style={{ width: 24, height: 24, borderRadius: 12, background: '#2F4A2B', alignItems: 'center', justifyContent: 'center' }}&gt;&lt;Text style={{ fontSize: 13, color: '#FFFFFF', fontWeight: 'bold' }}&gt;2&lt;/Text&gt;&lt;/Box&gt;&#13;&#10;            &lt;Text style={{ fontSize: 17, color: '#33352E', marginLeft: 12, flex: 1 }}&gt;&#13;&#10;              在服药物：isActive 的药名、剂量、频次&#13;&#10;            &lt;/Text&gt;&#13;&#10;          &lt;/Box&gt;&#13;&#10;          &lt;Box style={{ flexDirection: 'row', alignItems: 'center', paddingBottom: 9 }}&gt;&#13;&#10;            &lt;Box style={{ width: 24, height: 24, borderRadius: 12, background: '#2F4A2B', alignItems: 'center', justifyContent: 'center' }}&gt;&lt;Text style={{ fontSize: 13, color: '#FFFFFF', fontWeight: 'bold' }}&gt;3&lt;/Text&gt;&lt;/Box&gt;&#13;&#10;            &lt;Text style={{ fontSize: 17, color: '#33352E', marginLeft: 12, flex: 1 }}&gt;&#13;&#10;              最近 3 条问诊摘要&#13;&#10;            &lt;/Text&gt;&#13;&#10;          &lt;/Box&gt;&#13;&#10;          &lt;Box style={{ flexDirection: 'row', alignItems: 'center', paddingBottom: 14 }}&gt;&#13;&#10;            &lt;Box style={{ width: 24, height: 24, borderRadius: 12, background: '#2F4A2B', alignItems: 'center', justifyContent: 'center' }}&gt;&lt;Text style={{ fontSize: 13, color: '#FFFFFF', fontWeight: 'bold' }}&gt;4&lt;/Text&gt;&lt;/Box&gt;&#13;&#10;            &lt;Text style={{ fontSize: 17, color: '#33352E', marginLeft: 12, flex: 1 }}&gt;&#13;&#10;              星标优先的 8 条结论卡片&#13;&#10;            &lt;/Text&gt;&#13;&#10;          &lt;/Box&gt;&#13;&#10;&#13;&#10;          &lt;Box style={{&#13;&#10;            background: '#FAF7EF', borderLeft: '4px solid #2F4A2B', paddingTop: 11, paddingBottom: 11,&#13;&#10;            paddingLeft: 16, paddingRight: 16,&#13;&#10;          }}&gt;&#13;&#10;            &lt;Text style={{ fontSize: 16, color: '#2F4A2B', lineHeight: 1.6 }}&gt;&#13;&#10;              token 靠三个上限恒定：历史 20 条 · 摘要 3 条 · 结论 8 条。&#13;&#10;              &lt;span style={{ fontWeight: 'bold' }}&gt;不随对话变长而失控。&lt;/span&gt;&#13;&#10;            &lt;/Text&gt;&#13;&#10;          &lt;/Box&gt;&#13;&#10;&#13;&#10;          &lt;Text style={{ fontSize: 18, fontWeight: 'bold', color: '#C0473C', marginTop: 16, marginBottom: 8 }}&gt;&#13;&#10;            为什么不用微调&#13;&#10;          &lt;/Text&gt;&#13;&#10;          &lt;Box style={{ flexDirection: 'column', gap: 4 }}&gt;&#13;&#10;            &lt;Text style={{ fontSize: 16, color: '#33352E', lineHeight: 1.55 }}&gt;&#13;&#10;              · 微调改变的是&quot;说话方式&quot;，不是&quot;记住某个人的过敏史&quot;&#13;&#10;            &lt;/Text&gt;&#13;&#10;            &lt;Text style={{ fontSize: 16, color: '#33352E', lineHeight: 1.55 }}&gt;&#13;&#10;              · 患者今早刚加的青霉素过敏，下午的对话必须带上 —— 只有提示词做得到&#13;&#10;            &lt;/Text&gt;&#13;&#10;            &lt;Text style={{ fontSize: 16, color: '#33352E', lineHeight: 1.55 }}&gt;&#13;&#10;              · 一个家庭的数据量根本不支持训练，也不该把健康数据拿去训模型&#13;&#10;            &lt;/Text&gt;&#13;&#10;          &lt;/Box&gt;&#13;&#10;        &lt;/Box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07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04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</a:t>
            </a: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判断一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71500" y="647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个体化靠提示词装配，不做微调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71500" y="109537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同一个问题，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头晕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对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27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岁和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72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岁、对服降压药和不服药的人，答案是四件不同的事。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571500" y="1447800"/>
            <a:ext cx="5581650" cy="3886200"/>
          </a:xfrm>
          <a:prstGeom prst="rect">
            <a:avLst/>
          </a:prstGeom>
          <a:ln w="12700">
            <a:solidFill>
              <a:srgbClr val="D8D4C4"/>
            </a:solidFill>
            <a:prstDash val="solid"/>
          </a:ln>
        </p:spPr>
        <p:txBody>
          <a:bodyPr/>
          <a:p/>
        </p:txBody>
      </p:sp>
      <p:pic>
        <p:nvPicPr>
          <p:cNvPr id="402" name=""/>
          <p:cNvPicPr>
            <a:picLocks noChangeAspect="1"/>
          </p:cNvPicPr>
          <p:nvPr/>
        </p:nvPicPr>
        <p:blipFill>
          <a:blip r:embed="rId1"/>
          <a:srcRect l="5116" t="0" r="5116" b="0"/>
          <a:stretch>
            <a:fillRect/>
          </a:stretch>
        </p:blipFill>
        <p:spPr>
          <a:xfrm rot="0" flipH="0" flipV="0">
            <a:off x="571500" y="1447800"/>
            <a:ext cx="5581650" cy="3886200"/>
          </a:xfrm>
          <a:prstGeom prst="roundRect">
            <a:avLst>
              <a:gd name="adj" fmla="val 1471"/>
            </a:avLst>
          </a:prstGeom>
          <a:ln/>
        </p:spPr>
      </p:pic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71500" y="5410200"/>
            <a:ext cx="55816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　没有输入任何背景信息，回答里直接出现了患者姓名、年龄与在服药物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419850" y="1447800"/>
            <a:ext cx="5200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F4A2B"/>
                </a:solidFill>
                <a:latin typeface="Microsoft YaHei"/>
                <a:ea typeface="Microsoft YaHei"/>
              </a:rPr>
              <a:t>每次对话前拼四样东西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419850" y="1762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496050" y="18002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762750" y="1781175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档案：年龄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体型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血型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过敏史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病史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主诉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419850" y="2076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496050" y="21145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762750" y="20955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在服药物：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isActive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的药名、剂量、频次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419850" y="23907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496050" y="24288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762750" y="2409825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最近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条问诊摘要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419850" y="2705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496050" y="27432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762750" y="27241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星标优先的</a:t>
            </a:r>
            <a:r>
              <a:rPr lang="en-US" sz="1275">
                <a:solidFill>
                  <a:srgbClr val="33352E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75">
                <a:solidFill>
                  <a:srgbClr val="33352E"/>
                </a:solidFill>
                <a:latin typeface="Microsoft YaHei"/>
                <a:ea typeface="Microsoft YaHei"/>
              </a:rPr>
              <a:t>条结论卡片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457950" y="3067050"/>
            <a:ext cx="5200650" cy="800100"/>
          </a:xfrm>
          <a:prstGeom prst="rect">
            <a:avLst/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419850" y="3067050"/>
            <a:ext cx="5238750" cy="800100"/>
          </a:xfrm>
          <a:custGeom>
            <a:pathLst>
              <a:path w="550" h="84">
                <a:moveTo>
                  <a:pt x="0" y="0"/>
                </a:moveTo>
                <a:lnTo>
                  <a:pt x="4" y="0"/>
                </a:lnTo>
                <a:lnTo>
                  <a:pt x="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610350" y="3171825"/>
            <a:ext cx="4857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2F4A2B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200">
                <a:solidFill>
                  <a:srgbClr val="2F4A2B"/>
                </a:solidFill>
                <a:latin typeface="Microsoft YaHei"/>
                <a:ea typeface="Microsoft YaHei"/>
              </a:rPr>
              <a:t>靠三个上限恒定：历史</a:t>
            </a:r>
            <a:r>
              <a:rPr lang="en-US" sz="1200">
                <a:solidFill>
                  <a:srgbClr val="2F4A2B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200">
                <a:solidFill>
                  <a:srgbClr val="2F4A2B"/>
                </a:solidFill>
                <a:latin typeface="Microsoft YaHei"/>
                <a:ea typeface="Microsoft YaHei"/>
              </a:rPr>
              <a:t>条</a:t>
            </a:r>
            <a:r>
              <a:rPr lang="en-US" sz="1200">
                <a:solidFill>
                  <a:srgbClr val="2F4A2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F4A2B"/>
                </a:solidFill>
                <a:latin typeface="Microsoft YaHei"/>
                <a:ea typeface="Microsoft YaHei"/>
              </a:rPr>
              <a:t>摘要</a:t>
            </a:r>
            <a:r>
              <a:rPr lang="en-US" sz="1200">
                <a:solidFill>
                  <a:srgbClr val="2F4A2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2F4A2B"/>
                </a:solidFill>
                <a:latin typeface="Microsoft YaHei"/>
                <a:ea typeface="Microsoft YaHei"/>
              </a:rPr>
              <a:t>条</a:t>
            </a:r>
            <a:r>
              <a:rPr lang="en-US" sz="1200">
                <a:solidFill>
                  <a:srgbClr val="2F4A2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F4A2B"/>
                </a:solidFill>
                <a:latin typeface="Microsoft YaHei"/>
                <a:ea typeface="Microsoft YaHei"/>
              </a:rPr>
              <a:t>结论</a:t>
            </a:r>
            <a:r>
              <a:rPr lang="en-US" sz="1200">
                <a:solidFill>
                  <a:srgbClr val="2F4A2B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2F4A2B"/>
                </a:solidFill>
                <a:latin typeface="Microsoft YaHei"/>
                <a:ea typeface="Microsoft YaHei"/>
              </a:rPr>
              <a:t>条。</a:t>
            </a:r>
            <a:r>
              <a:rPr lang="zh-CN" sz="1200" b="1">
                <a:solidFill>
                  <a:srgbClr val="2F4A2B"/>
                </a:solidFill>
                <a:latin typeface="Microsoft YaHei"/>
                <a:ea typeface="Microsoft YaHei"/>
              </a:rPr>
              <a:t>不随对话变长而失控。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419850" y="4019550"/>
            <a:ext cx="5200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0473C"/>
                </a:solidFill>
                <a:latin typeface="Microsoft YaHei"/>
                <a:ea typeface="Microsoft YaHei"/>
              </a:rPr>
              <a:t>为什么不用微调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419850" y="4305300"/>
            <a:ext cx="52006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微调改变的是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说话方式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，不是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记住某个人的过敏史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419850" y="4629150"/>
            <a:ext cx="52006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患者今早刚加的青霉素过敏，下午的对话必须带上</a:t>
            </a: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只有提示词做得到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419850" y="4953000"/>
            <a:ext cx="52006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33352E"/>
                </a:solidFill>
                <a:latin typeface="Microsoft YaHei"/>
                <a:ea typeface="Microsoft YaHei"/>
              </a:rPr>
              <a:t>一个家庭的数据量根本不支持训练，也不该把健康数据拿去训模型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26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C0473C', letterSpacing: 2, fontWeight: 'bold' }}&gt;04　AI 判断二&lt;/Text&gt;&#13;&#10;      &lt;Text style={{ fontSize: 14, color: '#8B8A7E', letterSpacing: 2 }}&gt;MedAI&lt;/Text&gt;&#13;&#10;    &lt;/Box&gt;&#13;&#10;    &lt;Box style={{ width: 1280, height: 2, background: '#C0473C' }} /&gt;&#13;&#10;&#13;&#10;    &lt;Box style={{ paddingLeft: 60, paddingRight: 60, paddingTop: 20, flexDirection: 'column' }}&gt;&#13;&#10;      &lt;Text style={{ fontSize: 34, fontWeight: 'bold', color: '#1C1F1A', fontFamily: 'Microsoft YaHei' }}&gt;&#13;&#10;        红旗症状：这条线不交给模型&#13;&#10;      &lt;/Text&gt;&#13;&#10;      &lt;Text style={{ fontSize: 17, color: '#55544A', marginTop: 6 }}&gt;&#13;&#10;        胸痛、呼吸困难、意识不清这类话一出现，不去问模型&quot;这算不算紧急&quot;——本地规则先拦一遍。&#13;&#10;      &lt;/Text&gt;&#13;&#10;&#13;&#10;      &lt;Box style={{ flexDirection: 'row', marginTop: 14 }}&gt;&#13;&#10;        &lt;Box style={{ width: 570, flexDirection: 'column' }}&gt;&#13;&#10;          &lt;Image src=&quot;assets/redflag.png&quot; style={{ width: 570, height: 386, objectFit: 'cover', borderRadius: 6, border: '1px solid #E5CFCA' }} /&gt;&#13;&#10;          &lt;Text style={{ fontSize: 12, color: '#8B8A7E', marginTop: 8, lineHeight: 1.5 }}&gt;&#13;&#10;            图 3　命中后不再走常规问诊：红卡片中断对话，给出即时行动清单&#13;&#10;          &lt;/Text&gt;&#13;&#10;        &lt;/Box&gt;&#13;&#10;&#13;&#10;        &lt;Box style={{ flex: 1, flexDirection: 'column', paddingLeft: 28 }}&gt;&#13;&#10;          &lt;Box style={{ flexDirection: 'row', gap: 12 }}&gt;&#13;&#10;            &lt;Box style={{&#13;&#10;              flex: 1, background: '#C0473C', borderRadius: 4, paddingTop: 14, paddingBottom: 14,&#13;&#10;              paddingLeft: 16, paddingRight: 16, flexDirection: 'column',&#13;&#10;            }}&gt;&#13;&#10;              &lt;Text style={{ fontSize: 46, fontWeight: 'bold', color: '#FFFFFF', lineHeight: 1, fontFamily: 'Microsoft YaHei' }}&gt;&#13;&#10;                126&lt;span style={{ fontSize: 24 }}&gt;ms&lt;/span&gt;&#13;&#10;              &lt;/Text&gt;&#13;&#10;              &lt;Text style={{ fontSize: 14, color: '#F5DAD6', marginTop: 6 }}&gt;本地规则拦截&lt;/Text&gt;&#13;&#10;            &lt;/Box&gt;&#13;&#10;            &lt;Box style={{&#13;&#10;              flex: 1, background: '#F3F1E7', borderRadius: 4, paddingTop: 14, paddingBottom: 14,&#13;&#10;              paddingLeft: 16, paddingRight: 16, flexDirection: 'column',&#13;&#10;            }}&gt;&#13;&#10;              &lt;Text style={{ fontSize: 46, fontWeight: 'bold', color: '#8B8A7E', lineHeight: 1, fontFamily: 'Microsoft YaHei' }}&gt;&#13;&#10;                1646&lt;span style={{ fontSize: 24 }}&gt;ms&lt;/span&gt;&#13;&#10;              &lt;/Text&gt;&#13;&#10;              &lt;Text style={{ fontSize: 14, color: '#8B8A7E', marginTop: 6 }}&gt;走模型判定&lt;/Text&gt;&#13;&#10;            &lt;/Box&gt;&#13;&#10;          &lt;/Box&gt;&#13;&#10;          &lt;Text style={{ fontSize: 13, color: '#8B8A7E', marginTop: 7 }}&gt;&#13;&#10;            13 倍差距。但真正重要的不是快，而是断网、Key 过期、上游 500 时它照样生效。&#13;&#10;          &lt;/Text&gt;&#13;&#10;&#13;&#10;          &lt;Box style={{ flexDirection: 'column', marginTop: 10, gap: 7 }}&gt;&#13;&#10;            &lt;Box style={{ flexDirection: 'row' }}&gt;&#13;&#10;              &lt;Box style={{ width: 4, background: '#C0473C', marginRight: 12 }} /&gt;&#13;&#10;              &lt;Box style={{ flexDirection: 'column', flex: 1 }}&gt;&#13;&#10;                &lt;Text style={{ fontSize: 17, fontWeight: 'bold', color: '#1C1F1A' }}&gt;11 条规则，纯正则，零依赖&lt;/Text&gt;&#13;&#10;                &lt;Text style={{ fontSize: 15, color: '#55544A', marginTop: 3, lineHeight: 1.55 }}&gt;&#13;&#10;                  覆盖胸痛、言语不清、抽搐、意识改变、大出血、呼吸困难等急症表述&#13;&#10;                &lt;/Text&gt;&#13;&#10;              &lt;/Box&gt;&#13;&#10;            &lt;/Box&gt;&#13;&#10;&#13;&#10;            &lt;Box style={{ flexDirection: 'row' }}&gt;&#13;&#10;              &lt;Box style={{ width: 4, background: '#C0473C', marginRight: 12 }} /&gt;&#13;&#10;              &lt;Box style={{ flexDirection: 'column', flex: 1 }}&gt;&#13;&#10;                &lt;Text style={{ fontSize: 17, fontWeight: 'bold', color: '#1C1F1A' }}&gt;命中即落库，刷新之后还是红的&lt;/Text&gt;&#13;&#10;                &lt;Text style={{ fontSize: 15, color: '#55544A', marginTop: 3, lineHeight: 1.55 }}&gt;&#13;&#10;                  标记写进消息 flag 字段，安全提示不会被一次刷新冲掉&#13;&#10;                &lt;/Text&gt;&#13;&#10;              &lt;/Box&gt;&#13;&#10;            &lt;/Box&gt;&#13;&#10;&#13;&#10;            &lt;Box style={{ flexDirection: 'row' }}&gt;&#13;&#10;              &lt;Box style={{ width: 4, background: '#C0473C', marginRight: 12 }} /&gt;&#13;&#10;              &lt;Box style={{ flexDirection: 'column', flex: 1 }}&gt;&#13;&#10;                &lt;Text style={{ fontSize: 17, fontWeight: 'bold', color: '#1C1F1A' }}&gt;冲突判定同样不交给模型&lt;/Text&gt;&#13;&#10;                &lt;Text style={{ fontSize: 15, color: '#55544A', marginTop: 3, lineHeight: 1.55 }}&gt;&#13;&#10;                  模型只说&quot;可能不一致&quot;，是否真不一致由 diffFacts() 比对字段&#13;&#10;                &lt;/Text&gt;&#13;&#10;              &lt;/Box&gt;&#13;&#10;            &lt;/Box&gt;&#13;&#10;          &lt;/Box&gt;&#13;&#10;&#13;&#10;          &lt;Box style={{&#13;&#10;            marginTop: 10, background: '#1F3320', borderRadius: 4, paddingTop: 12, paddingBottom: 12,&#13;&#10;            paddingLeft: 16, paddingRight: 16,&#13;&#10;          }}&gt;&#13;&#10;            &lt;Text style={{ fontSize: 17, color: '#FFFFFF', fontWeight: 'bold', lineHeight: 1.5 }}&gt;&#13;&#10;              它不是一项功能，是一条底线。&#13;&#10;            &lt;/Text&gt;&#13;&#10;          &lt;/Box&gt;&#13;&#10;        &lt;/Box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08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C0473C"/>
                </a:solidFill>
                <a:latin typeface="Microsoft YaHei"/>
                <a:ea typeface="Microsoft YaHei"/>
              </a:rPr>
              <a:t>04</a:t>
            </a:r>
            <a:r>
              <a:rPr lang="zh-CN" sz="1125" b="1" spc="150">
                <a:solidFill>
                  <a:srgbClr val="C0473C"/>
                </a:solidFill>
                <a:latin typeface="Microsoft YaHei"/>
                <a:ea typeface="Microsoft YaHei"/>
              </a:rPr>
              <a:t>　</a:t>
            </a:r>
            <a:r>
              <a:rPr lang="en-US" sz="1125" b="1" spc="150">
                <a:solidFill>
                  <a:srgbClr val="C0473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C0473C"/>
                </a:solidFill>
                <a:latin typeface="Microsoft YaHei"/>
                <a:ea typeface="Microsoft YaHei"/>
              </a:rPr>
              <a:t>判断二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C0473C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红旗症状：这条线不交给模型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71500" y="10763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胸痛、呼吸困难、意识不清这类话一出现，不去问模型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这算不算紧急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"——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本地规则先拦一遍。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571500" y="1409700"/>
            <a:ext cx="5429250" cy="3676650"/>
          </a:xfrm>
          <a:prstGeom prst="rect">
            <a:avLst/>
          </a:prstGeom>
          <a:ln w="12700">
            <a:solidFill>
              <a:srgbClr val="E5CFCA"/>
            </a:solidFill>
            <a:prstDash val="solid"/>
          </a:ln>
        </p:spPr>
        <p:txBody>
          <a:bodyPr/>
          <a:p/>
        </p:txBody>
      </p:sp>
      <p:pic>
        <p:nvPicPr>
          <p:cNvPr id="435" name=""/>
          <p:cNvPicPr>
            <a:picLocks noChangeAspect="1"/>
          </p:cNvPicPr>
          <p:nvPr/>
        </p:nvPicPr>
        <p:blipFill>
          <a:blip r:embed="rId1"/>
          <a:srcRect l="3853" t="0" r="3853" b="0"/>
          <a:stretch>
            <a:fillRect/>
          </a:stretch>
        </p:blipFill>
        <p:spPr>
          <a:xfrm rot="0" flipH="0" flipV="0">
            <a:off x="571500" y="1409700"/>
            <a:ext cx="5429250" cy="3676650"/>
          </a:xfrm>
          <a:prstGeom prst="roundRect">
            <a:avLst>
              <a:gd name="adj" fmla="val 1554"/>
            </a:avLst>
          </a:prstGeom>
          <a:ln/>
        </p:spPr>
      </p:pic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71500" y="5162550"/>
            <a:ext cx="54292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　命中后不再走常规问诊：红卡片中断对话，给出即时行动清单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267450" y="1409700"/>
            <a:ext cx="2619375" cy="1019175"/>
          </a:xfrm>
          <a:prstGeom prst="roundRect">
            <a:avLst>
              <a:gd name="adj" fmla="val 3738"/>
            </a:avLst>
          </a:prstGeom>
          <a:solidFill>
            <a:srgbClr val="C0473C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419850" y="1543050"/>
            <a:ext cx="23145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126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ms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419850" y="2133600"/>
            <a:ext cx="2314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DAD6"/>
                </a:solidFill>
                <a:latin typeface="Microsoft YaHei"/>
                <a:ea typeface="Microsoft YaHei"/>
              </a:rPr>
              <a:t>本地规则拦截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9001125" y="1409700"/>
            <a:ext cx="2619375" cy="1019175"/>
          </a:xfrm>
          <a:prstGeom prst="roundRect">
            <a:avLst>
              <a:gd name="adj" fmla="val 3738"/>
            </a:avLst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9153525" y="1543050"/>
            <a:ext cx="23145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8B8A7E"/>
                </a:solidFill>
                <a:latin typeface="Microsoft YaHei"/>
                <a:ea typeface="Microsoft YaHei"/>
              </a:rPr>
              <a:t>1646</a:t>
            </a:r>
            <a:r>
              <a:rPr lang="en-US" sz="1800" b="1">
                <a:solidFill>
                  <a:srgbClr val="8B8A7E"/>
                </a:solidFill>
                <a:latin typeface="Microsoft YaHei"/>
                <a:ea typeface="Microsoft YaHei"/>
              </a:rPr>
              <a:t>ms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153525" y="2133600"/>
            <a:ext cx="2314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走模型判定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267450" y="2495550"/>
            <a:ext cx="535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倍差距。但真正重要的不是快，而是断网、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Key </a:t>
            </a: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过期、上游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时它照样生效。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267450" y="2743200"/>
            <a:ext cx="38100" cy="495300"/>
          </a:xfrm>
          <a:prstGeom prst="rect">
            <a:avLst/>
          </a:prstGeom>
          <a:solidFill>
            <a:srgbClr val="C0473C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419850" y="2743200"/>
            <a:ext cx="5200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条规则，纯正则，零依赖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419850" y="2971800"/>
            <a:ext cx="5200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覆盖胸痛、言语不清、抽搐、意识改变、大出血、呼吸困难等急症表述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267450" y="3305175"/>
            <a:ext cx="38100" cy="495300"/>
          </a:xfrm>
          <a:prstGeom prst="rect">
            <a:avLst/>
          </a:prstGeom>
          <a:solidFill>
            <a:srgbClr val="C0473C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419850" y="3305175"/>
            <a:ext cx="5200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命中即落库，刷新之后还是红的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419850" y="3533775"/>
            <a:ext cx="5200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标记写进消息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flag 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字段，安全提示不会被一次刷新冲掉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267450" y="3867150"/>
            <a:ext cx="38100" cy="495300"/>
          </a:xfrm>
          <a:prstGeom prst="rect">
            <a:avLst/>
          </a:prstGeom>
          <a:solidFill>
            <a:srgbClr val="C0473C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419850" y="3867150"/>
            <a:ext cx="5200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冲突判定同样不交给模型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419850" y="4095750"/>
            <a:ext cx="5200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模型只说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可能不一致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，是否真不一致由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diffFacts() 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比对字段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267450" y="4457700"/>
            <a:ext cx="5353050" cy="523875"/>
          </a:xfrm>
          <a:prstGeom prst="roundRect">
            <a:avLst>
              <a:gd name="adj" fmla="val 7273"/>
            </a:avLst>
          </a:prstGeom>
          <a:solidFill>
            <a:srgbClr val="1F3320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419850" y="4572000"/>
            <a:ext cx="50482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它不是一项功能，是一条底线。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4　AI 判断三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24, flexDirection: 'column' }}&gt;&#13;&#10;      &lt;Box style={{ flexDirection: 'row', justifyContent: 'space-between', alignItems: 'flex-end' }}&gt;&#13;&#10;        &lt;Box style={{ flexDirection: 'column' }}&gt;&#13;&#10;          &lt;Text style={{ fontSize: 34, fontWeight: 'bold', color: '#1C1F1A', fontFamily: 'Microsoft YaHei' }}&gt;&#13;&#10;            AI 提建议，患者点头&#13;&#10;          &lt;/Text&gt;&#13;&#10;          &lt;Text style={{ fontSize: 17, color: '#55544A', marginTop: 6 }}&gt;&#13;&#10;            模型可以从对话里抽取事实，但它一个字都写不进档案 —— 落库这一步必须由人按下。&#13;&#10;          &lt;/Text&gt;&#13;&#10;        &lt;/Box&gt;&#13;&#10;        &lt;Box style={{&#13;&#10;          flexDirection: 'column', alignItems: 'flex-end', borderRight: '3px solid #2F4A2B',&#13;&#10;          paddingRight: 14, paddingTop: 2, paddingBottom: 2,&#13;&#10;        }}&gt;&#13;&#10;          &lt;Text style={{ fontSize: 15, color: '#2F4A2B', fontWeight: 'bold', letterSpacing: 1 }}&gt;核心原则&lt;/Text&gt;&#13;&#10;          &lt;Text style={{ fontSize: 15, color: '#8B8A7E', marginTop: 4 }}&gt;AI 只负责抽取，不负责决定&lt;/Text&gt;&#13;&#10;        &lt;/Box&gt;&#13;&#10;      &lt;/Box&gt;&#13;&#10;&#13;&#10;      &lt;Box style={{ flexDirection: 'row', marginTop: 20, gap: 12, height: 206 }}&gt;&#13;&#10;        &lt;Box style={{&#13;&#10;          flex: 1, background: '#FAF7EF', border: '1px solid #E2DED0', borderRadius: 6,&#13;&#10;          paddingTop: 22, paddingBottom: 22, paddingLeft: 18, paddingRight: 18, flexDirection: 'column', justifyContent: 'space-between',&#13;&#10;        }}&gt;&#13;&#10;          &lt;Text style={{ fontSize: 13, color: '#8ABFEB', fontWeight: 'bold', letterSpacing: 2 }}&gt;STEP 01&lt;/Text&gt;&#13;&#10;          &lt;Text style={{ fontSize: 20, fontWeight: 'bold', color: '#1C1F1A', marginTop: 6 }}&gt;模型只返回候选&lt;/Text&gt;&#13;&#10;          &lt;Text style={{ fontSize: 16, color: '#55544A', marginTop: 8, lineHeight: 1.65 }}&gt;&#13;&#10;            三类：fill（档案里空着的字段）、add（对话里新提到的药）、&#13;&#10;            conflict（与现有档案矛盾的信息）&#13;&#10;          &lt;/Text&gt;&#13;&#10;        &lt;/Box&gt;&#13;&#10;&#13;&#10;        &lt;Box style={{ width: 40, alignItems: 'center', justifyContent: 'center' }}&gt;&#13;&#10;          &lt;Text style={{ fontSize: 26, color: '#B5B2A0' }}&gt;→&lt;/Text&gt;&#13;&#10;        &lt;/Box&gt;&#13;&#10;&#13;&#10;        &lt;Box style={{&#13;&#10;          flex: 1, background: '#FAF7EF', border: '1px solid #E2DED0', borderRadius: 6,&#13;&#10;          paddingTop: 22, paddingBottom: 22, paddingLeft: 18, paddingRight: 18, flexDirection: 'column', justifyContent: 'space-between',&#13;&#10;        }}&gt;&#13;&#10;          &lt;Text style={{ fontSize: 13, color: '#8ABFEB', fontWeight: 'bold', letterSpacing: 2 }}&gt;STEP 02&lt;/Text&gt;&#13;&#10;          &lt;Text style={{ fontSize: 20, fontWeight: 'bold', color: '#1C1F1A', marginTop: 6 }}&gt;由代码判定冲突&lt;/Text&gt;&#13;&#10;          &lt;Text style={{ fontSize: 16, color: '#55544A', marginTop: 8, lineHeight: 1.65 }}&gt;&#13;&#10;            diffFacts() 做字段级比对。fill 与 add 默认勾选；&#13;&#10;            &lt;span style={{ fontWeight: 'bold', color: '#C0473C' }}&gt;conflict 默认不勾选并红色高亮&lt;/span&gt;&#13;&#10;          &lt;/Text&gt;&#13;&#10;        &lt;/Box&gt;&#13;&#10;&#13;&#10;        &lt;Box style={{ width: 40, alignItems: 'center', justifyContent: 'center' }}&gt;&#13;&#10;          &lt;Text style={{ fontSize: 26, color: '#B5B2A0' }}&gt;→&lt;/Text&gt;&#13;&#10;        &lt;/Box&gt;&#13;&#10;&#13;&#10;        &lt;Box style={{&#13;&#10;          flex: 1, background: '#2F4A2B', borderRadius: 6,&#13;&#10;          paddingTop: 22, paddingBottom: 22, paddingLeft: 18, paddingRight: 18, flexDirection: 'column', justifyContent: 'space-between',&#13;&#10;        }}&gt;&#13;&#10;          &lt;Text style={{ fontSize: 13, color: '#A8C09A', fontWeight: 'bold', letterSpacing: 2 }}&gt;STEP 03&lt;/Text&gt;&#13;&#10;          &lt;Text style={{ fontSize: 20, fontWeight: 'bold', color: '#FFFFFF', marginTop: 6 }}&gt;患者确认才落库&lt;/Text&gt;&#13;&#10;          &lt;Text style={{ fontSize: 16, color: '#D8E4CC', marginTop: 8, lineHeight: 1.65 }}&gt;&#13;&#10;            落库前每条都当不可信输入重新校验：字段白名单、长度上限、&#13;&#10;            单次 ≤ 20 条、medicationId 按 ownerId 重查&#13;&#10;          &lt;/Text&gt;&#13;&#10;        &lt;/Box&gt;&#13;&#10;      &lt;/Box&gt;&#13;&#10;&#13;&#10;      &lt;Box style={{ flexDirection: 'row', marginTop: 18, gap: 16 }}&gt;&#13;&#10;        &lt;Box style={{ flex: 1, flexDirection: 'column', borderTop: '3px solid #2F4A2B', paddingTop: 12 }}&gt;&#13;&#10;          &lt;Text style={{ fontSize: 19, fontWeight: 'bold', color: '#1C1F1A' }}&gt;结论卡片不许自动生成&lt;/Text&gt;&#13;&#10;          &lt;Text style={{ fontSize: 16, color: '#55544A', marginTop: 7, lineHeight: 1.65 }}&gt;&#13;&#10;            客观事实可以让 AI 整理，但&quot;哪句重要&quot;是价值判断 —— 只有患者自己知道。&#13;&#10;            这个取舍让产品少了一个看起来很酷的功能，但保住了判断权在人手里这条线。&#13;&#10;          &lt;/Text&gt;&#13;&#10;        &lt;/Box&gt;&#13;&#10;&#13;&#10;        &lt;Box style={{ flex: 1, flexDirection: 'column', borderTop: '3px solid #6E8F5E', paddingTop: 12 }}&gt;&#13;&#10;          &lt;Text style={{ fontSize: 19, fontWeight: 'bold', color: '#1C1F1A' }}&gt;医疗合规三件套常驻&lt;/Text&gt;&#13;&#10;          &lt;Text style={{ fontSize: 16, color: '#55544A', marginTop: 7, lineHeight: 1.65 }}&gt;&#13;&#10;            不下诊断、不开处方；过敏史优先考虑并主动提醒；涉及处方药必须提示遵医嘱。&#13;&#10;            这三条写在系统提示词最前面，即使后面 token 超限需要裁剪，它们也不会被删掉。&#13;&#10;          &lt;/Text&gt;&#13;&#10;        &lt;/Box&gt;&#13;&#10;&#13;&#10;        &lt;Box style={{ flex: 1, flexDirection: 'column', borderTop: '3px solid #9AA5B5', paddingTop: 12 }}&gt;&#13;&#10;          &lt;Text style={{ fontSize: 19, fontWeight: 'bold', color: '#1C1F1A' }}&gt;失败不留孤儿数据&lt;/Text&gt;&#13;&#10;          &lt;Text style={{ fontSize: 16, color: '#55544A', marginTop: 7, lineHeight: 1.65 }}&gt;&#13;&#10;            先调模型，流读完且内容非空，才把提问与回答一起写库。Key 配错、上游 500、&#13;&#10;            网络中断，都不会攒出一条&quot;只有提问、没有回答&quot;的孤儿记录。&#13;&#10;          &lt;/Text&gt;&#13;&#10;        &lt;/Box&gt;&#13;&#10;      &lt;/Box&gt;&#13;&#10;&#13;&#10;      &lt;Box style={{&#13;&#10;        marginTop: 16, background: '#1F3320', borderRadius: 4,&#13;&#10;        paddingTop: 13, paddingBottom: 13, paddingLeft: 22, paddingRight: 22,&#13;&#10;        flexDirection: 'row', alignItems: 'center',&#13;&#10;      }}&gt;&#13;&#10;        &lt;Text style={{ fontSize: 14, color: '#A8C09A', letterSpacing: 2, width: 110 }}&gt;一句话&lt;/Text&gt;&#13;&#10;        &lt;Text style={{ fontSize: 18, color: '#FFFFFF', fontWeight: 'bold', flex: 1 }}&gt;&#13;&#10;          判断权留在人手里 —— 这是这类产品能长期被信任的前提，也是它和&quot;又一个 AI 聊天框&quot;的区别。&#13;&#10;        &lt;/Text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09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04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</a:t>
            </a: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判断三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571500" y="666750"/>
            <a:ext cx="6276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提建议，患者点头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571500" y="1114425"/>
            <a:ext cx="6276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模型可以从对话里抽取事实，但它一个字都写不进档案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落库这一步必须由人按下。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9696450" y="895350"/>
            <a:ext cx="1952625" cy="419100"/>
          </a:xfrm>
          <a:custGeom>
            <a:pathLst>
              <a:path w="205" h="44">
                <a:moveTo>
                  <a:pt x="202" y="0"/>
                </a:moveTo>
                <a:lnTo>
                  <a:pt x="205" y="0"/>
                </a:lnTo>
                <a:lnTo>
                  <a:pt x="205" y="44"/>
                </a:lnTo>
                <a:lnTo>
                  <a:pt x="202" y="44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0848975" y="91440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2F4A2B"/>
                </a:solidFill>
                <a:latin typeface="Microsoft YaHei"/>
                <a:ea typeface="Microsoft YaHei"/>
              </a:rPr>
              <a:t>核心原则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696450" y="1123950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8A7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8B8A7E"/>
                </a:solidFill>
                <a:latin typeface="Microsoft YaHei"/>
                <a:ea typeface="Microsoft YaHei"/>
              </a:rPr>
              <a:t>只负责抽取，不负责决定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571500" y="1504950"/>
            <a:ext cx="3276600" cy="1962150"/>
          </a:xfrm>
          <a:prstGeom prst="roundRect">
            <a:avLst>
              <a:gd name="adj" fmla="val 2913"/>
            </a:avLst>
          </a:prstGeom>
          <a:solidFill>
            <a:srgbClr val="FAF7EF"/>
          </a:solidFill>
          <a:ln w="12700">
            <a:solidFill>
              <a:srgbClr val="E2DED0"/>
            </a:solidFill>
            <a:prstDash val="solid"/>
          </a:ln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42950" y="17145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8ABFEB"/>
                </a:solidFill>
                <a:latin typeface="Microsoft YaHei"/>
                <a:ea typeface="Microsoft YaHei"/>
              </a:rPr>
              <a:t>STEP 01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742950" y="19812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C1F1A"/>
                </a:solidFill>
                <a:latin typeface="Microsoft YaHei"/>
                <a:ea typeface="Microsoft YaHei"/>
              </a:rPr>
              <a:t>模型只返回候选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42950" y="2343150"/>
            <a:ext cx="29337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三类：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>fill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（档案里空着的字段）、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>add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（对话里新提到的药）、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conflict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（与现有档案矛盾的信息）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4029075" y="23336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5B2A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4457700" y="1504950"/>
            <a:ext cx="3276600" cy="1962150"/>
          </a:xfrm>
          <a:prstGeom prst="roundRect">
            <a:avLst>
              <a:gd name="adj" fmla="val 2913"/>
            </a:avLst>
          </a:prstGeom>
          <a:solidFill>
            <a:srgbClr val="FAF7EF"/>
          </a:solidFill>
          <a:ln w="12700">
            <a:solidFill>
              <a:srgbClr val="E2DED0"/>
            </a:solidFill>
            <a:prstDash val="solid"/>
          </a:ln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629150" y="17145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8ABFEB"/>
                </a:solidFill>
                <a:latin typeface="Microsoft YaHei"/>
                <a:ea typeface="Microsoft YaHei"/>
              </a:rPr>
              <a:t>STEP 02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629150" y="21336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C1F1A"/>
                </a:solidFill>
                <a:latin typeface="Microsoft YaHei"/>
                <a:ea typeface="Microsoft YaHei"/>
              </a:rPr>
              <a:t>由代码判定冲突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629150" y="2647950"/>
            <a:ext cx="2933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diffFacts()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做字段级比对。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fill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add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默认勾选；</a:t>
            </a:r>
            <a:r>
              <a:rPr lang="en-US" sz="1200" b="1">
                <a:solidFill>
                  <a:srgbClr val="C0473C"/>
                </a:solidFill>
                <a:latin typeface="Microsoft YaHei"/>
                <a:ea typeface="Microsoft YaHei"/>
              </a:rPr>
              <a:t xml:space="preserve">conflict </a:t>
            </a:r>
            <a:r>
              <a:rPr lang="zh-CN" sz="1200" b="1">
                <a:solidFill>
                  <a:srgbClr val="C0473C"/>
                </a:solidFill>
                <a:latin typeface="Microsoft YaHei"/>
                <a:ea typeface="Microsoft YaHei"/>
              </a:rPr>
              <a:t>默认不勾选并红色高亮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915275" y="23336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5B2A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8343900" y="1504950"/>
            <a:ext cx="3276600" cy="1962150"/>
          </a:xfrm>
          <a:prstGeom prst="roundRect">
            <a:avLst>
              <a:gd name="adj" fmla="val 2913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515350" y="17145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A8C09A"/>
                </a:solidFill>
                <a:latin typeface="Microsoft YaHei"/>
                <a:ea typeface="Microsoft YaHei"/>
              </a:rPr>
              <a:t>STEP 03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515350" y="19812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患者确认才落库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515350" y="2343150"/>
            <a:ext cx="29337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D8E4CC"/>
                </a:solidFill>
                <a:latin typeface="Microsoft YaHei"/>
                <a:ea typeface="Microsoft YaHei"/>
              </a:rPr>
              <a:t>落库前每条都当不可信输入重新校验：字段白名单、长度上限、</a:t>
            </a:r>
            <a:r>
              <a:rPr lang="en-US" sz="1200">
                <a:solidFill>
                  <a:srgbClr val="D8E4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D8E4CC"/>
                </a:solidFill>
                <a:latin typeface="Microsoft YaHei"/>
                <a:ea typeface="Microsoft YaHei"/>
              </a:rPr>
              <a:t>单次</a:t>
            </a:r>
            <a:r>
              <a:rPr lang="en-US" sz="1200">
                <a:solidFill>
                  <a:srgbClr val="D8E4CC"/>
                </a:solidFill>
                <a:latin typeface="Microsoft YaHei"/>
                <a:ea typeface="Microsoft YaHei"/>
              </a:rPr>
              <a:t xml:space="preserve"> ≤ 20 </a:t>
            </a:r>
            <a:r>
              <a:rPr lang="zh-CN" sz="1200">
                <a:solidFill>
                  <a:srgbClr val="D8E4CC"/>
                </a:solidFill>
                <a:latin typeface="Microsoft YaHei"/>
                <a:ea typeface="Microsoft YaHei"/>
              </a:rPr>
              <a:t>条、</a:t>
            </a:r>
            <a:r>
              <a:rPr lang="en-US" sz="1200">
                <a:solidFill>
                  <a:srgbClr val="D8E4CC"/>
                </a:solidFill>
                <a:latin typeface="Microsoft YaHei"/>
                <a:ea typeface="Microsoft YaHei"/>
              </a:rPr>
              <a:t xml:space="preserve">medicationId </a:t>
            </a:r>
            <a:r>
              <a:rPr lang="zh-CN" sz="1200">
                <a:solidFill>
                  <a:srgbClr val="D8E4CC"/>
                </a:solidFill>
                <a:latin typeface="Microsoft YaHei"/>
                <a:ea typeface="Microsoft YaHei"/>
              </a:rPr>
              <a:t>按</a:t>
            </a:r>
            <a:r>
              <a:rPr lang="en-US" sz="1200">
                <a:solidFill>
                  <a:srgbClr val="D8E4CC"/>
                </a:solidFill>
                <a:latin typeface="Microsoft YaHei"/>
                <a:ea typeface="Microsoft YaHei"/>
              </a:rPr>
              <a:t xml:space="preserve"> ownerId </a:t>
            </a:r>
            <a:r>
              <a:rPr lang="zh-CN" sz="1200">
                <a:solidFill>
                  <a:srgbClr val="D8E4CC"/>
                </a:solidFill>
                <a:latin typeface="Microsoft YaHei"/>
                <a:ea typeface="Microsoft YaHei"/>
              </a:rPr>
              <a:t>重查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571500" y="3638550"/>
            <a:ext cx="3581400" cy="1666875"/>
          </a:xfrm>
          <a:custGeom>
            <a:pathLst>
              <a:path w="376" h="175">
                <a:moveTo>
                  <a:pt x="0" y="0"/>
                </a:moveTo>
                <a:lnTo>
                  <a:pt x="376" y="0"/>
                </a:lnTo>
                <a:lnTo>
                  <a:pt x="376" y="3"/>
                </a:lnTo>
                <a:lnTo>
                  <a:pt x="0" y="3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71500" y="378142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结论卡片不许自动生成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71500" y="4067175"/>
            <a:ext cx="35814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客观事实可以让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整理，但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哪句重要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是价值判断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只有患者自己知道。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这个取舍让产品少了一个看起来很酷的功能，但保住了判断权在人手里这条线。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4305300" y="3638550"/>
            <a:ext cx="3581400" cy="1666875"/>
          </a:xfrm>
          <a:custGeom>
            <a:pathLst>
              <a:path w="376" h="175">
                <a:moveTo>
                  <a:pt x="0" y="0"/>
                </a:moveTo>
                <a:lnTo>
                  <a:pt x="376" y="0"/>
                </a:lnTo>
                <a:lnTo>
                  <a:pt x="376" y="3"/>
                </a:lnTo>
                <a:lnTo>
                  <a:pt x="0" y="3"/>
                </a:lnTo>
                <a:close/>
              </a:path>
            </a:pathLst>
          </a:custGeom>
          <a:solidFill>
            <a:srgbClr val="6E8F5E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4305300" y="378142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医疗合规三件套常驻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305300" y="4067175"/>
            <a:ext cx="35814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不下诊断、不开处方；过敏史优先考虑并主动提醒；涉及处方药必须提示遵医嘱。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这三条写在系统提示词最前面，即使后面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超限需要裁剪，它们也不会被删掉。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8039100" y="3638550"/>
            <a:ext cx="3581400" cy="1666875"/>
          </a:xfrm>
          <a:custGeom>
            <a:pathLst>
              <a:path w="376" h="175">
                <a:moveTo>
                  <a:pt x="0" y="0"/>
                </a:moveTo>
                <a:lnTo>
                  <a:pt x="376" y="0"/>
                </a:lnTo>
                <a:lnTo>
                  <a:pt x="376" y="3"/>
                </a:lnTo>
                <a:lnTo>
                  <a:pt x="0" y="3"/>
                </a:lnTo>
                <a:close/>
              </a:path>
            </a:pathLst>
          </a:custGeom>
          <a:solidFill>
            <a:srgbClr val="9AA5B5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039100" y="378142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C1F1A"/>
                </a:solidFill>
                <a:latin typeface="Microsoft YaHei"/>
                <a:ea typeface="Microsoft YaHei"/>
              </a:rPr>
              <a:t>失败不留孤儿数据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039100" y="4067175"/>
            <a:ext cx="35814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先调模型，流读完且内容非空，才把提问与回答一起写库。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Key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配错、上游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500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网络中断，都不会攒出一条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只有提问、没有回答</a:t>
            </a:r>
            <a:r>
              <a:rPr lang="en-US" sz="120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5544A"/>
                </a:solidFill>
                <a:latin typeface="Microsoft YaHei"/>
                <a:ea typeface="Microsoft YaHei"/>
              </a:rPr>
              <a:t>的孤儿记录。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571500" y="542925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1F3320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781050" y="55816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A8C09A"/>
                </a:solidFill>
                <a:latin typeface="Microsoft YaHei"/>
                <a:ea typeface="Microsoft YaHei"/>
              </a:rPr>
              <a:t>一句话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828800" y="5553075"/>
            <a:ext cx="958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判断权留在人手里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这是这类产品能长期被信任的前提，也是它和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又一个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聊天框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的区别。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6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5　核心交互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20, flexDirection: 'column' }}&gt;&#13;&#10;      &lt;Text style={{ fontSize: 34, fontWeight: 'bold', color: '#1C1F1A', fontFamily: 'Microsoft YaHei' }}&gt;&#13;&#10;        看得到不等于记得下：每一行就是按钮&#13;&#10;      &lt;/Text&gt;&#13;&#10;      &lt;Text style={{ fontSize: 17, color: '#55544A', marginTop: 6 }}&gt;&#13;&#10;        打卡原本要四步：点提醒 → 进档案 → 找到那颗药 → 点已服用。现在压成两步：点木牌 → 点那一行。&#13;&#10;      &lt;/Text&gt;&#13;&#10;&#13;&#10;      &lt;Box style={{ flexDirection: 'row', marginTop: 14 }}&gt;&#13;&#10;        &lt;Box style={{ width: 600, flexDirection: 'column' }}&gt;&#13;&#10;          &lt;Image src=&quot;assets/signboard.png&quot; style={{ width: 600, height: 452, objectFit: 'cover', borderRadius: 6, border: '1px solid #D8D4C4' }} /&gt;&#13;&#10;          &lt;Text style={{ fontSize: 12, color: '#8B8A7E', marginTop: 8, lineHeight: 1.5 }}&gt;&#13;&#10;            图 4　点一下木板，卡片从板子下方长出来；每位家人一段，每颗药一行&#13;&#10;          &lt;/Text&gt;&#13;&#10;        &lt;/Box&gt;&#13;&#10;&#13;&#10;        &lt;Box style={{ flex: 1, flexDirection: 'column', paddingLeft: 26 }}&gt;&#13;&#10;          &lt;Text style={{ fontSize: 19, fontWeight: 'bold', color: '#2F4A2B', marginBottom: 10 }}&gt;一次点击，三处同时变&lt;/Text&gt;&#13;&#10;&#13;&#10;          &lt;Box style={{ flexDirection: 'row', gap: 10 }}&gt;&#13;&#10;            &lt;Box style={{ flex: 1, background: '#FAF7EF', borderRadius: 4, paddingTop: 11, paddingBottom: 11, paddingLeft: 12, paddingRight: 12, flexDirection: 'column' }}&gt;&#13;&#10;              &lt;Text style={{ fontSize: 13, color: '#8ABFEB', fontWeight: 'bold' }}&gt;01&lt;/Text&gt;&#13;&#10;              &lt;Text style={{ fontSize: 16, color: '#1C1F1A', fontWeight: 'bold', marginTop: 3 }}&gt;行内状态&lt;/Text&gt;&#13;&#10;              &lt;Text style={{ fontSize: 13, color: '#55544A', marginTop: 3 }}&gt;空心圆变成实心打勾&lt;/Text&gt;&#13;&#10;            &lt;/Box&gt;&#13;&#10;            &lt;Box style={{ flex: 1, background: '#FAF7EF', borderRadius: 4, paddingTop: 11, paddingBottom: 11, paddingLeft: 12, paddingRight: 12, flexDirection: 'column' }}&gt;&#13;&#10;              &lt;Text style={{ fontSize: 13, color: '#8ABFEB', fontWeight: 'bold' }}&gt;02&lt;/Text&gt;&#13;&#10;              &lt;Text style={{ fontSize: 16, color: '#1C1F1A', fontWeight: 'bold', marginTop: 3 }}&gt;表头计数&lt;/Text&gt;&#13;&#10;              &lt;Text style={{ fontSize: 13, color: '#55544A', marginTop: 3 }}&gt;2/5 变成 3/5&lt;/Text&gt;&#13;&#10;            &lt;/Box&gt;&#13;&#10;            &lt;Box style={{ flex: 1, background: '#FAF7EF', borderRadius: 4, paddingTop: 11, paddingBottom: 11, paddingLeft: 12, paddingRight: 12, flexDirection: 'column' }}&gt;&#13;&#10;              &lt;Text style={{ fontSize: 13, color: '#8ABFEB', fontWeight: 'bold' }}&gt;03&lt;/Text&gt;&#13;&#10;              &lt;Text style={{ fontSize: 16, color: '#1C1F1A', fontWeight: 'bold', marginTop: 3 }}&gt;3D 板面文字&lt;/Text&gt;&#13;&#10;              &lt;Text style={{ fontSize: 13, color: '#55544A', marginTop: 3 }}&gt;木板上那行字同步更新&lt;/Text&gt;&#13;&#10;            &lt;/Box&gt;&#13;&#10;          &lt;/Box&gt;&#13;&#10;&#13;&#10;          &lt;Box style={{ flexDirection: 'column', marginTop: 16, gap: 10, flex: 1 }}&gt;&#13;&#10;            &lt;Box style={{ flexDirection: 'row' }}&gt;&#13;&#10;              &lt;Box style={{ width: 4, background: '#2F4A2B', marginRight: 12 }} /&gt;&#13;&#10;              &lt;Box style={{ flexDirection: 'column', flex: 1 }}&gt;&#13;&#10;                &lt;Text style={{ fontSize: 17, fontWeight: 'bold', color: '#1C1F1A' }}&gt;板面文字是真字体，不是贴图&lt;/Text&gt;&#13;&#10;                &lt;Text style={{ fontSize: 15, color: '#55544A', marginTop: 3, lineHeight: 1.5 }}&gt;&#13;&#10;                  文字层是 HTML，每帧用单应矩阵投影到板子四角 —— 任意缩放不糊，还能被子遮挡&#13;&#10;                &lt;/Text&gt;&#13;&#10;              &lt;/Box&gt;&#13;&#10;            &lt;/Box&gt;&#13;&#10;            &lt;Box style={{ flexDirection: 'row' }}&gt;&#13;&#10;              &lt;Box style={{ width: 4, background: '#2F4A2B', marginRight: 12 }} /&gt;&#13;&#10;              &lt;Box style={{ flexDirection: 'column', flex: 1 }}&gt;&#13;&#10;                &lt;Text style={{ fontSize: 17, fontWeight: 'bold', color: '#1C1F1A' }}&gt;打卡后冻结人名顺序&lt;/Text&gt;&#13;&#10;                &lt;Text style={{ fontSize: 15, color: '#55544A', marginTop: 3, lineHeight: 1.5 }}&gt;&#13;&#10;                  否则排序一变，用户就会点到下一行去 —— 打卡只改状态，不重排&#13;&#10;                &lt;/Text&gt;&#13;&#10;              &lt;/Box&gt;&#13;&#10;            &lt;/Box&gt;&#13;&#10;            &lt;Box style={{ flexDirection: 'row' }}&gt;&#13;&#10;              &lt;Box style={{ width: 4, background: '#2F4A2B', marginRight: 12 }} /&gt;&#13;&#10;              &lt;Box style={{ flexDirection: 'column', flex: 1 }}&gt;&#13;&#10;                &lt;Text style={{ fontSize: 17, fontWeight: 'bold', color: '#1C1F1A' }}&gt;一个跟踪都没有时，板子不消失&lt;/Text&gt;&#13;&#10;                &lt;Text style={{ fontSize: 15, color: '#55544A', marginTop: 3, lineHeight: 1.5 }}&gt;&#13;&#10;                  挂一块写着&quot;今天还没有要吃的药&quot;的空板子，点开告诉你怎么用 —— 功能得能被找到&#13;&#10;                &lt;/Text&gt;&#13;&#10;              &lt;/Box&gt;&#13;&#10;            &lt;/Box&gt;&#13;&#10;          &lt;/Box&gt;&#13;&#10;&#13;&#10;          &lt;Box style={{&#13;&#10;            marginTop: 14, background: '#1F3320', borderRadius: 4, paddingTop: 11, paddingBottom: 11,&#13;&#10;            paddingLeft: 16, paddingRight: 16,&#13;&#10;          }}&gt;&#13;&#10;            &lt;Text style={{ fontSize: 16, color: '#FFFFFF', fontWeight: 'bold', lineHeight: 1.45 }}&gt;&#13;&#10;              交互创新不在&quot;多一个功能&quot;，而在&quot;把一个动作的完成成本砍到最低&quot;。&#13;&#10;            &lt;/Text&gt;&#13;&#10;          &lt;/Box&gt;&#13;&#10;        &lt;/Box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10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05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核心交互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看得到不等于记得下：每一行就是按钮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10763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打卡原本要四步：点提醒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进档案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找到那颗药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点已服用。现在压成两步：点木牌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点那一行。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71500" y="1409700"/>
            <a:ext cx="5715000" cy="4305300"/>
          </a:xfrm>
          <a:prstGeom prst="rect">
            <a:avLst/>
          </a:prstGeom>
          <a:ln w="12700">
            <a:solidFill>
              <a:srgbClr val="D8D4C4"/>
            </a:solidFill>
            <a:prstDash val="solid"/>
          </a:ln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 r:embed="rId1"/>
          <a:srcRect l="8517" t="0" r="8517" b="0"/>
          <a:stretch>
            <a:fillRect/>
          </a:stretch>
        </p:blipFill>
        <p:spPr>
          <a:xfrm rot="0" flipH="0" flipV="0">
            <a:off x="571500" y="1409700"/>
            <a:ext cx="5715000" cy="4305300"/>
          </a:xfrm>
          <a:prstGeom prst="roundRect">
            <a:avLst>
              <a:gd name="adj" fmla="val 1327"/>
            </a:avLst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5791200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4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　点一下木板，卡片从板子下方长出来；每位家人一段，每颗药一行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534150" y="1409700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F4A2B"/>
                </a:solidFill>
                <a:latin typeface="Microsoft YaHei"/>
                <a:ea typeface="Microsoft YaHei"/>
              </a:rPr>
              <a:t>一次点击，三处同时变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534150" y="1724025"/>
            <a:ext cx="1628775" cy="762000"/>
          </a:xfrm>
          <a:prstGeom prst="roundRect">
            <a:avLst>
              <a:gd name="adj" fmla="val 5000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648450" y="1828800"/>
            <a:ext cx="1400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BF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648450" y="2009775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C1F1A"/>
                </a:solidFill>
                <a:latin typeface="Microsoft YaHei"/>
                <a:ea typeface="Microsoft YaHei"/>
              </a:rPr>
              <a:t>行内状态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648450" y="2228850"/>
            <a:ext cx="1400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5544A"/>
                </a:solidFill>
                <a:latin typeface="Microsoft YaHei"/>
                <a:ea typeface="Microsoft YaHei"/>
              </a:rPr>
              <a:t>空心圆变成实心打勾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258175" y="1724025"/>
            <a:ext cx="1638300" cy="762000"/>
          </a:xfrm>
          <a:prstGeom prst="roundRect">
            <a:avLst>
              <a:gd name="adj" fmla="val 5000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72475" y="1828800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BF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72475" y="2009775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C1F1A"/>
                </a:solidFill>
                <a:latin typeface="Microsoft YaHei"/>
                <a:ea typeface="Microsoft YaHei"/>
              </a:rPr>
              <a:t>表头计数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72475" y="2228850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5544A"/>
                </a:solidFill>
                <a:latin typeface="Microsoft YaHei"/>
                <a:ea typeface="Microsoft YaHei"/>
              </a:rPr>
              <a:t xml:space="preserve">2/5 </a:t>
            </a:r>
            <a:r>
              <a:rPr lang="zh-CN" sz="975">
                <a:solidFill>
                  <a:srgbClr val="55544A"/>
                </a:solidFill>
                <a:latin typeface="Microsoft YaHei"/>
                <a:ea typeface="Microsoft YaHei"/>
              </a:rPr>
              <a:t>变成</a:t>
            </a:r>
            <a:r>
              <a:rPr lang="en-US" sz="975">
                <a:solidFill>
                  <a:srgbClr val="55544A"/>
                </a:solidFill>
                <a:latin typeface="Microsoft YaHei"/>
                <a:ea typeface="Microsoft YaHei"/>
              </a:rPr>
              <a:t xml:space="preserve"> 3/5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9991725" y="1724025"/>
            <a:ext cx="1628775" cy="762000"/>
          </a:xfrm>
          <a:prstGeom prst="roundRect">
            <a:avLst>
              <a:gd name="adj" fmla="val 5000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0106025" y="1828800"/>
            <a:ext cx="1400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BF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106025" y="2009775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3D </a:t>
            </a:r>
            <a:r>
              <a:rPr lang="zh-CN" sz="1200" b="1">
                <a:solidFill>
                  <a:srgbClr val="1C1F1A"/>
                </a:solidFill>
                <a:latin typeface="Microsoft YaHei"/>
                <a:ea typeface="Microsoft YaHei"/>
              </a:rPr>
              <a:t>板面文字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106025" y="2228850"/>
            <a:ext cx="1400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5544A"/>
                </a:solidFill>
                <a:latin typeface="Microsoft YaHei"/>
                <a:ea typeface="Microsoft YaHei"/>
              </a:rPr>
              <a:t>木板上那行字同步更新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534150" y="2638425"/>
            <a:ext cx="38100" cy="7429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686550" y="2638425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板面文字是真字体，不是贴图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686550" y="2867025"/>
            <a:ext cx="4933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文字层是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HTML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，每帧用单应矩阵投影到板子四角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任意缩放不糊，还能被子遮挡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534150" y="3476625"/>
            <a:ext cx="38100" cy="485775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686550" y="3476625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打卡后冻结人名顺序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86550" y="3705225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否则排序一变，用户就会点到下一行去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打卡只改状态，不重排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534150" y="4057650"/>
            <a:ext cx="38100" cy="7429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686550" y="4057650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一个跟踪都没有时，板子不消失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686550" y="4286250"/>
            <a:ext cx="4933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挂一块写着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今天还没有要吃的药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的空板子，点开告诉你怎么用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功能得能被找到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534150" y="5524500"/>
            <a:ext cx="5086350" cy="476250"/>
          </a:xfrm>
          <a:prstGeom prst="roundRect">
            <a:avLst>
              <a:gd name="adj" fmla="val 8000"/>
            </a:avLst>
          </a:prstGeom>
          <a:solidFill>
            <a:srgbClr val="1F3320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686550" y="5629275"/>
            <a:ext cx="47815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交互创新不在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多一个功能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，而在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把一个动作的完成成本砍到最低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3" name="" descr="&lt;Slide style={{ width: 1280, height: 720, background: '#FFFFFF', padding: 0 }}&gt;&#10;  &lt;Box style={{ flexDirection: 'column', width: 1280, height: 720 }}&gt;&#10;    &lt;Box style={{&#10;      width: 1280, height: 44, background: '#F3F1E7', flexDirection: 'row',&#10;      alignItems: 'center', justifyContent: 'space-between',&#10;      paddingLeft: 60, paddingRight: 60,&#10;    }}&gt;&#10;      &lt;Text style={{ fontSize: 15, color: '#2F4A2B', letterSpacing: 2, fontWeight: 'bold' }}&gt;05　核心功能&lt;/Text&gt;&#10;      &lt;Text style={{ fontSize: 14, color: '#8B8A7E', letterSpacing: 2 }}&gt;MedAI&lt;/Text&gt;&#10;    &lt;/Box&gt;&#10;    &lt;Box style={{ width: 1280, height: 2, background: '#2F4A2B' }} /&gt;&#10;&#10;    &lt;Box style={{ paddingLeft: 60, paddingRight: 60, paddingTop: 20, flexDirection: 'column' }}&gt;&#10;      &lt;Text style={{ fontSize: 34, fontWeight: 'bold', color: '#1C1F1A', fontFamily: 'Microsoft YaHei' }}&gt;&#10;        复诊时，不用再凭记忆复述&#10;      &lt;/Text&gt;&#10;      &lt;Text style={{ fontSize: 17, color: '#55544A', marginTop: 6 }}&gt;&#10;        三个月发生的事排成一条轴，能投影给医生看；一次问诊整理成一张 A4，能打印、能复制成纯文本。&#10;      &lt;/Text&gt;&#10;&#10;      &lt;Box style={{ flexDirection: 'row', marginTop: 14, gap: 20 }}&gt;&#10;        &lt;Box style={{ width: 660, flexDirection: 'column' }}&gt;&#10;          &lt;Image src=&quot;assets/timeline.png&quot; style={{ width: 660, height: 370, objectFit: 'cover', borderRadius: 6, border: '1px solid #D8D4C4' }} /&gt;&#10;          &lt;Text style={{ fontSize: 12, color: '#8B8A7E', marginTop: 7, lineHeight: 1.5 }}&gt;&#10;            图 5　病程时间轴：建档、用药、问诊、结论排在同一条轴上，按真正发生的时间归日&#10;          &lt;/Text&gt;&#10;          &lt;Box style={{ flexDirection: 'column', marginTop: 10 }}&gt;&#10;            &lt;Text style={{ fontSize: 17, fontWeight: 'bold', color: '#1C1F1A' }}&gt;按&quot;真发生时间&quot;归日&lt;/Text&gt;&#10;            &lt;Text style={{ fontSize: 15, color: '#55544A', marginTop: 4, lineHeight: 1.55 }}&gt;&#10;              用药看 startDate、问诊看 lastMessageAt，不看会被归档刷新的 updatedAt ——&#10;              否则整条轴会挤在最后一次操作的那天。&#10;            &lt;/Text&gt;&#10;          &lt;/Box&gt;&#10;        &lt;/Box&gt;&#10;&#10;        &lt;Box style={{ flex: 1, flexDirection: 'row', gap: 18 }}&gt;&#10;          &lt;Box style={{ width: 250, flexDirection: 'column' }}&gt;&#10;            &lt;Image src=&quot;assets/sheet.png&quot; style={{ width: 250, height: 370, objectFit: 'cover', borderRadius: 6, border: '1px solid #D8D4C4' }} /&gt;&#10;            &lt;Text style={{ fontSize: 12, color: '#8B8A7E', marginTop: 7, lineHeight: 1.5 }}&gt;&#10;              图 6　就诊摘要 A4 单页&#10;            &lt;/Text&gt;&#10;          &lt;/Box&gt;&#10;&#10;          &lt;Box style={{ flex: 1, flexDirection: 'column' }}&gt;&#10;            &lt;Text style={{ fontSize: 17, fontWeight: 'bold', color: '#2F4A2B', marginBottom: 8 }}&gt;这张纸上有什么&lt;/Text&gt;&#10;            &lt;Box style={{ flexDirection: 'column', gap: 6 }}&gt;&#10;              &lt;Text style={{ fontSize: 15, color: '#33352E', lineHeight: 1.5 }}&gt;· 主诉与病程&lt;/Text&gt;&#10;              &lt;Text style={{ fontSize: 15, color: '#33352E', lineHeight: 1.5 }}&gt;· 在服药物 + 过敏史&lt;/Text&gt;&#10;              &lt;Text style={{ fontSize: 15, color: '#33352E', lineHeight: 1.5 }}&gt;· 现在可以先做什么&lt;/Text&gt;&#10;              &lt;Text style={{ fontSize: 15, color: '#33352E', lineHeight: 1.5 }}&gt;· 什么情况必须就医&lt;/Text&gt;&#10;              &lt;Text style={{ fontSize: 15, color: '#33352E', lineHeight: 1.5 }}&gt;· 想问医生的几个问题&lt;/Text&gt;&#10;            &lt;/Box&gt;&#10;            &lt;Box style={{&#10;              marginTop: 12, background: '#FAF7EF', borderLeft: '4px solid #C0473C',&#10;              paddingTop: 9, paddingBottom: 9, paddingLeft: 12, paddingRight: 12,&#10;            }}&gt;&#10;              &lt;Text style={{ fontSize: 14, color: '#33352E', lineHeight: 1.5 }}&gt;&#10;                &lt;span style={{ fontWeight: 'bold', color: '#C0473C' }}&gt;模型不可用时退回本地模板&lt;/span&gt;，&#10;                绝不给你一张空纸。&#10;              &lt;/Text&gt;&#10;            &lt;/Box&gt;&#10;            &lt;Box style={{&#10;              marginTop: 10, background: '#FAF7EF', borderLeft: '4px solid #2F4A2B',&#10;              paddingTop: 9, paddingBottom: 9, paddingLeft: 12, paddingRight: 12,&#10;            }}&gt;&#10;              &lt;Text style={{ fontSize: 14, color: '#33352E', lineHeight: 1.5 }}&gt;&#10;                纯文本版复制到微信，也不会丢掉过敏史与既往病史。&#10;              &lt;/Text&gt;&#10;            &lt;/Box&gt;&#10;          &lt;/Box&gt;&#10;        &lt;/Box&gt;&#10;      &lt;/Box&gt;&#10;    &lt;/Box&gt;&#10;&#10;    &lt;Box style={{&#10;      position: 'absolute', bottom: 0, left: 0, width: 1280, height: 40,&#10;      flexDirection: 'row', alignItems: 'center', justifyContent: 'space-between',&#10;      paddingLeft: 60, paddingRight: 60,&#10;    }}&gt;&#10;      &lt;Text style={{ fontSize: 13, color: '#8B8A7E' }}&gt;广东医科大学 · MedAI&lt;/Text&gt;&#10;      &lt;Text style={{ fontSize: 13, color: '#2F4A2B' }}&gt;11 / 14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05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核心功能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复诊时，不用再凭记忆复述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1500" y="10763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三个月发生的事排成一条轴，能投影给医生看；一次问诊整理成一张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A4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，能打印、能复制成纯文本。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71500" y="1409700"/>
            <a:ext cx="6286500" cy="3524250"/>
          </a:xfrm>
          <a:prstGeom prst="rect">
            <a:avLst/>
          </a:prstGeom>
          <a:ln w="12700">
            <a:solidFill>
              <a:srgbClr val="D8D4C4"/>
            </a:solidFill>
            <a:prstDash val="solid"/>
          </a:ln>
        </p:spPr>
        <p:txBody>
          <a:bodyPr/>
          <a:p/>
        </p:txBody>
      </p:sp>
      <p:pic>
        <p:nvPicPr>
          <p:cNvPr id="72" name=""/>
          <p:cNvPicPr>
            <a:picLocks noChangeAspect="1"/>
          </p:cNvPicPr>
          <p:nvPr/>
        </p:nvPicPr>
        <p:blipFill>
          <a:blip r:embed="rId1"/>
          <a:srcRect l="0" t="8812" r="0" b="8812"/>
          <a:stretch>
            <a:fillRect/>
          </a:stretch>
        </p:blipFill>
        <p:spPr>
          <a:xfrm rot="0" flipH="0" flipV="0">
            <a:off x="571500" y="1409700"/>
            <a:ext cx="6286500" cy="3524250"/>
          </a:xfrm>
          <a:prstGeom prst="roundRect">
            <a:avLst>
              <a:gd name="adj" fmla="val 1622"/>
            </a:avLst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71500" y="5000625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　病程时间轴：建档、用药、问诊、结论排在同一条轴上，按真正发生的时间归日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71500" y="5305425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按</a:t>
            </a:r>
            <a:r>
              <a:rPr lang="en-US" sz="1275" b="1">
                <a:solidFill>
                  <a:srgbClr val="1C1F1A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真发生时间</a:t>
            </a:r>
            <a:r>
              <a:rPr lang="en-US" sz="1275" b="1">
                <a:solidFill>
                  <a:srgbClr val="1C1F1A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归日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71500" y="5543550"/>
            <a:ext cx="6286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用药看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startDate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、问诊看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lastMessageAt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，不看会被归档刷新的</a:t>
            </a:r>
            <a:r>
              <a:rPr lang="en-US" sz="1125">
                <a:solidFill>
                  <a:srgbClr val="55544A"/>
                </a:solidFill>
                <a:latin typeface="Microsoft YaHei"/>
                <a:ea typeface="Microsoft YaHei"/>
              </a:rPr>
              <a:t xml:space="preserve"> updatedAt —— </a:t>
            </a:r>
            <a:r>
              <a:rPr lang="zh-CN" sz="1125">
                <a:solidFill>
                  <a:srgbClr val="55544A"/>
                </a:solidFill>
                <a:latin typeface="Microsoft YaHei"/>
                <a:ea typeface="Microsoft YaHei"/>
              </a:rPr>
              <a:t>否则整条轴会挤在最后一次操作的那天。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048500" y="1409700"/>
            <a:ext cx="2381250" cy="3524250"/>
          </a:xfrm>
          <a:prstGeom prst="rect">
            <a:avLst/>
          </a:prstGeom>
          <a:ln w="12700">
            <a:solidFill>
              <a:srgbClr val="D8D4C4"/>
            </a:solidFill>
            <a:prstDash val="solid"/>
          </a:ln>
        </p:spPr>
        <p:txBody>
          <a:bodyPr/>
          <a:p/>
        </p:txBody>
      </p:sp>
      <p:pic>
        <p:nvPicPr>
          <p:cNvPr id="77" name=""/>
          <p:cNvPicPr>
            <a:picLocks noChangeAspect="1"/>
          </p:cNvPicPr>
          <p:nvPr/>
        </p:nvPicPr>
        <p:blipFill>
          <a:blip r:embed="rId2"/>
          <a:srcRect l="28885" t="0" r="28885" b="0"/>
          <a:stretch>
            <a:fillRect/>
          </a:stretch>
        </p:blipFill>
        <p:spPr>
          <a:xfrm rot="0" flipH="0" flipV="0">
            <a:off x="7048500" y="1409700"/>
            <a:ext cx="2381250" cy="3524250"/>
          </a:xfrm>
          <a:prstGeom prst="roundRect">
            <a:avLst>
              <a:gd name="adj" fmla="val 2400"/>
            </a:avLst>
          </a:prstGeom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048500" y="500062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6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　就诊摘要</a:t>
            </a:r>
            <a:r>
              <a:rPr lang="en-US" sz="900">
                <a:solidFill>
                  <a:srgbClr val="8B8A7E"/>
                </a:solidFill>
                <a:latin typeface="Microsoft YaHei"/>
                <a:ea typeface="Microsoft YaHei"/>
              </a:rPr>
              <a:t xml:space="preserve"> A4 </a:t>
            </a:r>
            <a:r>
              <a:rPr lang="zh-CN" sz="900">
                <a:solidFill>
                  <a:srgbClr val="8B8A7E"/>
                </a:solidFill>
                <a:latin typeface="Microsoft YaHei"/>
                <a:ea typeface="Microsoft YaHei"/>
              </a:rPr>
              <a:t>单页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601200" y="1409700"/>
            <a:ext cx="201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F4A2B"/>
                </a:solidFill>
                <a:latin typeface="Microsoft YaHei"/>
                <a:ea typeface="Microsoft YaHei"/>
              </a:rPr>
              <a:t>这张纸上有什么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601200" y="16859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主诉与病程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601200" y="200025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在服药物</a:t>
            </a: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过敏史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601200" y="231457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现在可以先做什么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601200" y="262890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什么情况必须就医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601200" y="29432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想问医生的几个问题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9639300" y="3314700"/>
            <a:ext cx="2019300" cy="657225"/>
          </a:xfrm>
          <a:prstGeom prst="rect">
            <a:avLst/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9601200" y="3314700"/>
            <a:ext cx="2057400" cy="657225"/>
          </a:xfrm>
          <a:custGeom>
            <a:pathLst>
              <a:path w="216" h="69">
                <a:moveTo>
                  <a:pt x="0" y="0"/>
                </a:moveTo>
                <a:lnTo>
                  <a:pt x="4" y="0"/>
                </a:lnTo>
                <a:lnTo>
                  <a:pt x="4" y="69"/>
                </a:lnTo>
                <a:lnTo>
                  <a:pt x="0" y="69"/>
                </a:lnTo>
                <a:close/>
              </a:path>
            </a:pathLst>
          </a:custGeom>
          <a:solidFill>
            <a:srgbClr val="C0473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753600" y="3400425"/>
            <a:ext cx="1752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C0473C"/>
                </a:solidFill>
                <a:latin typeface="Microsoft YaHei"/>
                <a:ea typeface="Microsoft YaHei"/>
              </a:rPr>
              <a:t>模型不可用时退回本地模板</a:t>
            </a:r>
            <a:r>
              <a:rPr lang="zh-CN" sz="1050">
                <a:solidFill>
                  <a:srgbClr val="33352E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3335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3352E"/>
                </a:solidFill>
                <a:latin typeface="Microsoft YaHei"/>
                <a:ea typeface="Microsoft YaHei"/>
              </a:rPr>
              <a:t>绝不给你一张空纸。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9639300" y="4067175"/>
            <a:ext cx="2019300" cy="657225"/>
          </a:xfrm>
          <a:prstGeom prst="rect">
            <a:avLst/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9601200" y="4067175"/>
            <a:ext cx="2057400" cy="657225"/>
          </a:xfrm>
          <a:custGeom>
            <a:pathLst>
              <a:path w="216" h="69">
                <a:moveTo>
                  <a:pt x="0" y="0"/>
                </a:moveTo>
                <a:lnTo>
                  <a:pt x="4" y="0"/>
                </a:lnTo>
                <a:lnTo>
                  <a:pt x="4" y="69"/>
                </a:lnTo>
                <a:lnTo>
                  <a:pt x="0" y="69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753600" y="4152900"/>
            <a:ext cx="1752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3352E"/>
                </a:solidFill>
                <a:latin typeface="Microsoft YaHei"/>
                <a:ea typeface="Microsoft YaHei"/>
              </a:rPr>
              <a:t>纯文本版复制到微信，也不会丢掉过敏史与既往病史。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6　工程质量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20, flexDirection: 'column' }}&gt;&#13;&#10;      &lt;Text style={{ fontSize: 34, fontWeight: 'bold', color: '#1C1F1A', fontFamily: 'Microsoft YaHei' }}&gt;&#13;&#10;        不看清单看行为：解压跑通才算能交付&#13;&#10;      &lt;/Text&gt;&#13;&#10;      &lt;Text style={{ fontSize: 17, color: '#55544A', marginTop: 6 }}&gt;&#13;&#10;        没有引入测试框架，但有 5 套可重复执行的自检脚本；每次改动后跑一遍，输出通过 / 失败计数。&#13;&#10;      &lt;/Text&gt;&#13;&#10;&#13;&#10;      &lt;Box style={{ flexDirection: 'row', marginTop: 18 }}&gt;&#13;&#10;        &lt;Box style={{ width: 620, flexDirection: 'column' }}&gt;&#13;&#10;          &lt;Box style={{ flexDirection: 'row', paddingBottom: 11, borderBottom: '2px solid #2F4A2B' }}&gt;&#13;&#10;            &lt;Text style={{ fontSize: 14, color: '#2F4A2B', fontWeight: 'bold', width: 300 }}&gt;自检脚本&lt;/Text&gt;&#13;&#10;            &lt;Text style={{ fontSize: 14, color: '#2F4A2B', fontWeight: 'bold', width: 80, textAlign: 'right' }}&gt;项数&lt;/Text&gt;&#13;&#10;            &lt;Text style={{ fontSize: 14, color: '#2F4A2B', fontWeight: 'bold', flex: 1, textAlign: 'right' }}&gt;覆盖&lt;/Text&gt;&#13;&#10;          &lt;/Box&gt;&#13;&#10;&#13;&#10;          &lt;Box style={{ flexDirection: 'row', alignItems: 'center', paddingTop: 16, paddingBottom: 16, borderBottom: '1px solid #E2DED0' }}&gt;&#13;&#10;            &lt;Text style={{ fontSize: 16, color: '#1C1F1A', width: 300 }}&gt;接口测试 api-test&lt;/Text&gt;&#13;&#10;            &lt;Text style={{ fontSize: 26, color: '#2F4A2B', fontWeight: 'bold', width: 80, textAlign: 'right' }}&gt;68&lt;/Text&gt;&#13;&#10;            &lt;Text style={{ fontSize: 14, color: '#8B8A7E', flex: 1, textAlign: 'right' }}&gt;鉴权 / 越权 / 档案 / 用药&lt;/Text&gt;&#13;&#10;          &lt;/Box&gt;&#13;&#10;&#13;&#10;          &lt;Box style={{ flexDirection: 'row', alignItems: 'center', paddingTop: 16, paddingBottom: 16, borderBottom: '1px solid #E2DED0' }}&gt;&#13;&#10;            &lt;Text style={{ fontSize: 16, color: '#1C1F1A', width: 300 }}&gt;木牌回归 check-board&lt;/Text&gt;&#13;&#10;            &lt;Text style={{ fontSize: 26, color: '#2F4A2B', fontWeight: 'bold', width: 80, textAlign: 'right' }}&gt;33&lt;/Text&gt;&#13;&#10;            &lt;Text style={{ fontSize: 14, color: '#8B8A7E', flex: 1, textAlign: 'right' }}&gt;打卡 / 三处同步 / resize&lt;/Text&gt;&#13;&#10;          &lt;/Box&gt;&#13;&#10;&#13;&#10;          &lt;Box style={{ flexDirection: 'row', alignItems: 'center', paddingTop: 16, paddingBottom: 16, borderBottom: '1px solid #E2DED0' }}&gt;&#13;&#10;            &lt;Text style={{ fontSize: 16, color: '#1C1F1A', width: 300 }}&gt;提醒逻辑 check-reminder&lt;/Text&gt;&#13;&#10;            &lt;Text style={{ fontSize: 26, color: '#2F4A2B', fontWeight: 'bold', width: 80, textAlign: 'right' }}&gt;20&lt;/Text&gt;&#13;&#10;            &lt;Text style={{ fontSize: 14, color: '#8B8A7E', flex: 1, textAlign: 'right' }}&gt;时间计算 / 免打扰 / 漏服封顶&lt;/Text&gt;&#13;&#10;          &lt;/Box&gt;&#13;&#10;&#13;&#10;          &lt;Box style={{ flexDirection: 'row', alignItems: 'center', paddingTop: 16, paddingBottom: 16, borderBottom: '1px solid #E2DED0' }}&gt;&#13;&#10;            &lt;Text style={{ fontSize: 16, color: '#1C1F1A', width: 300 }}&gt;登录与入口 check-login / entry&lt;/Text&gt;&#13;&#10;            &lt;Text style={{ fontSize: 26, color: '#2F4A2B', fontWeight: 'bold', width: 80, textAlign: 'right' }}&gt;26&lt;/Text&gt;&#13;&#10;            &lt;Text style={{ fontSize: 14, color: '#8B8A7E', flex: 1, textAlign: 'right' }}&gt;Cookie / 越权 / 404 出口&lt;/Text&gt;&#13;&#10;          &lt;/Box&gt;&#13;&#10;&#13;&#10;          &lt;Box style={{ flexDirection: 'row', alignItems: 'center', paddingTop: 16, paddingBottom: 16 }}&gt;&#13;&#10;            &lt;Text style={{ fontSize: 16, color: '#1C1F1A', width: 300 }}&gt;类型与规范 tsc / eslint&lt;/Text&gt;&#13;&#10;            &lt;Text style={{ fontSize: 26, color: '#2F4A2B', fontWeight: 'bold', width: 80, textAlign: 'right' }}&gt;0&lt;/Text&gt;&#13;&#10;            &lt;Text style={{ fontSize: 14, color: '#8B8A7E', flex: 1, textAlign: 'right' }}&gt;错误数&lt;/Text&gt;&#13;&#10;          &lt;/Box&gt;&#13;&#10;&#13;&#10;          &lt;Box style={{&#13;&#10;            marginTop: 8, background: '#2F4A2B', borderRadius: 4, paddingTop: 13, paddingBottom: 13,&#13;&#10;            paddingLeft: 18, paddingRight: 18, flexDirection: 'row', alignItems: 'center',&#13;&#10;          }}&gt;&#13;&#10;            &lt;Text style={{ fontSize: 17, color: '#FFFFFF', fontWeight: 'bold', flex: 1 }}&gt;&#13;&#10;              合计 147 项断言，全部通过&#13;&#10;            &lt;/Text&gt;&#13;&#10;            &lt;Text style={{ fontSize: 13, color: '#A8C09A' }}&gt;可重复执行，不靠肉眼&lt;/Text&gt;&#13;&#10;          &lt;/Box&gt;&#13;&#10;&#13;&#10;          &lt;Text style={{ fontSize: 18, fontWeight: 'bold', color: '#2F4A2B', marginTop: 15, marginBottom: 8 }}&gt;&#13;&#10;            三条工程习惯&#13;&#10;          &lt;/Text&gt;&#13;&#10;          &lt;Box style={{ flexDirection: 'column', gap: 6 }}&gt;&#13;&#10;            &lt;Text style={{ fontSize: 15, color: '#33352E', lineHeight: 1.55 }}&gt;&#13;&#10;              · 校验脚本都写成可重复执行的 .mjs / .ts，跑完输出计数，不靠肉眼比对&#13;&#10;            &lt;/Text&gt;&#13;&#10;            &lt;Text style={{ fontSize: 15, color: '#33352E', lineHeight: 1.55 }}&gt;&#13;&#10;              · 打包红线用代码表达（排除密钥、数据库、上传件），并在打包后独立复查一遍&#13;&#10;            &lt;/Text&gt;&#13;&#10;            &lt;Text style={{ fontSize: 15, color: '#33352E', lineHeight: 1.55 }}&gt;&#13;&#10;              · 排除规则与复查规则不共用同一套窄逻辑，否则两边一起漏&#13;&#10;            &lt;/Text&gt;&#13;&#10;          &lt;/Box&gt;&#13;&#10;        &lt;/Box&gt;&#13;&#10;&#13;&#10;        &lt;Box style={{ flex: 1, flexDirection: 'column', paddingLeft: 32 }}&gt;&#13;&#10;          &lt;Text style={{ fontSize: 19, fontWeight: 'bold', color: '#2F4A2B', marginBottom: 10 }}&gt;四条部署路线&lt;/Text&gt;&#13;&#10;&#13;&#10;          &lt;Box style={{ flexDirection: 'column', gap: 8 }}&gt;&#13;&#10;            &lt;Box style={{ flexDirection: 'row', background: '#FAF7EF', borderRadius: 4, paddingTop: 10, paddingBottom: 10, paddingLeft: 12, paddingRight: 12 }}&gt;&#13;&#10;              &lt;Text style={{ fontSize: 15, fontWeight: 'bold', color: '#1C1F1A', width: 88 }}&gt;本机直跑&lt;/Text&gt;&#13;&#10;              &lt;Text style={{ fontSize: 14, color: '#55544A', flex: 1 }}&gt;双击 Start MedAI.bat，首次自动补齐四步&lt;/Text&gt;&#13;&#10;            &lt;/Box&gt;&#13;&#10;            &lt;Box style={{ flexDirection: 'row', background: '#FAF7EF', borderRadius: 4, paddingTop: 10, paddingBottom: 10, paddingLeft: 12, paddingRight: 12 }}&gt;&#13;&#10;              &lt;Text style={{ fontSize: 15, fontWeight: 'bold', color: '#1C1F1A', width: 88 }}&gt;Docker&lt;/Text&gt;&#13;&#10;              &lt;Text style={{ fontSize: 14, color: '#55544A', flex: 1 }}&gt;多阶段构建，只留 standalone 产物&lt;/Text&gt;&#13;&#10;            &lt;/Box&gt;&#13;&#10;            &lt;Box style={{ flexDirection: 'row', background: '#FAF7EF', borderRadius: 4, paddingTop: 10, paddingBottom: 10, paddingLeft: 12, paddingRight: 12 }}&gt;&#13;&#10;              &lt;Text style={{ fontSize: 15, fontWeight: 'bold', color: '#1C1F1A', width: 88 }}&gt;Caddy 反代&lt;/Text&gt;&#13;&#10;              &lt;Text style={{ fontSize: 14, color: '#55544A', flex: 1 }}&gt;自动 HTTPS，容器只监听内网端口&lt;/Text&gt;&#13;&#10;            &lt;/Box&gt;&#13;&#10;            &lt;Box style={{ flexDirection: 'row', background: '#FAF7EF', borderRadius: 4, paddingTop: 10, paddingBottom: 10, paddingLeft: 12, paddingRight: 12 }}&gt;&#13;&#10;              &lt;Text style={{ fontSize: 15, fontWeight: 'bold', color: '#1C1F1A', width: 88 }}&gt;离线包&lt;/Text&gt;&#13;&#10;              &lt;Text style={{ fontSize: 14, color: '#55544A', flex: 1 }}&gt;47MB，解压即跑，无 CDN 依赖&lt;/Text&gt;&#13;&#10;            &lt;/Box&gt;&#13;&#10;          &lt;/Box&gt;&#13;&#10;&#13;&#10;          &lt;Text style={{ fontSize: 19, fontWeight: 'bold', color: '#2F4A2B', marginTop: 15, marginBottom: 8 }}&gt;交付前的真实验收&lt;/Text&gt;&#13;&#10;          &lt;Box style={{ flexDirection: 'column', gap: 6 }}&gt;&#13;&#10;            &lt;Text style={{ fontSize: 15, color: '#33352E', lineHeight: 1.5 }}&gt;&#13;&#10;              解压到独立目录 → npm ci → prisma generate → db push → 起服务 →&#13;&#10;              跑一遍登录、建档、加药、打卡、科普库&#13;&#10;            &lt;/Text&gt;&#13;&#10;          &lt;/Box&gt;&#13;&#10;          &lt;Box style={{&#13;&#10;            marginTop: 10, background: '#FAF7EF', borderLeft: '4px solid #C0473C', paddingTop: 10, paddingBottom: 10,&#13;&#10;            paddingLeft: 12, paddingRight: 12,&#13;&#10;          }}&gt;&#13;&#10;            &lt;Text style={{ fontSize: 14, color: '#33352E', lineHeight: 1.55 }}&gt;&#13;&#10;              &lt;span style={{ fontWeight: 'bold', color: '#C0473C' }}&gt;这一步抓到过一个真 bug：&lt;/span&gt;&#13;&#10;              排除规则把 .next/node_modules 整棵剪掉，解压后 next start 直接报错 —— 只有真解压才会暴露。&#13;&#10;            &lt;/Text&gt;&#13;&#10;          &lt;/Box&gt;&#13;&#10;&#13;&#10;          &lt;Box style={{&#13;&#10;            marginTop: 10, background: '#1F3320', borderRadius: 4, paddingTop: 11, paddingBottom: 11,&#13;&#10;            paddingLeft: 14, paddingRight: 14,&#13;&#10;          }}&gt;&#13;&#10;            &lt;Text style={{ fontSize: 14, color: '#D8E4CC', lineHeight: 1.5 }}&gt;&#13;&#10;              Next.js 16 · React 19 · TS 5.9 · Three.js 0.170 · Prisma 6 · SQLite · DeepSeek&#13;&#10;            &lt;/Text&gt;&#13;&#10;          &lt;/Box&gt;&#13;&#10;        &lt;/Box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12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06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工程质量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不看清单看行为：解压跑通才算能交付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10763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没有引入测试框架，但有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套可重复执行的自检脚本；每次改动后跑一遍，输出通过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失败计数。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71500" y="1447800"/>
            <a:ext cx="5905500" cy="304800"/>
          </a:xfrm>
          <a:custGeom>
            <a:pathLst>
              <a:path w="620" h="32">
                <a:moveTo>
                  <a:pt x="0" y="30"/>
                </a:moveTo>
                <a:lnTo>
                  <a:pt x="620" y="30"/>
                </a:lnTo>
                <a:lnTo>
                  <a:pt x="62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14478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4A2B"/>
                </a:solidFill>
                <a:latin typeface="Microsoft YaHei"/>
                <a:ea typeface="Microsoft YaHei"/>
              </a:rPr>
              <a:t>自检脚本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429000" y="1447800"/>
            <a:ext cx="762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 b="1">
                <a:solidFill>
                  <a:srgbClr val="2F4A2B"/>
                </a:solidFill>
                <a:latin typeface="Microsoft YaHei"/>
                <a:ea typeface="Microsoft YaHei"/>
              </a:rPr>
              <a:t>项数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91000" y="1447800"/>
            <a:ext cx="2286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 b="1">
                <a:solidFill>
                  <a:srgbClr val="2F4A2B"/>
                </a:solidFill>
                <a:latin typeface="Microsoft YaHei"/>
                <a:ea typeface="Microsoft YaHei"/>
              </a:rPr>
              <a:t>覆盖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71500" y="1733550"/>
            <a:ext cx="5905500" cy="628650"/>
          </a:xfrm>
          <a:custGeom>
            <a:pathLst>
              <a:path w="620" h="66">
                <a:moveTo>
                  <a:pt x="0" y="65"/>
                </a:moveTo>
                <a:lnTo>
                  <a:pt x="620" y="65"/>
                </a:lnTo>
                <a:lnTo>
                  <a:pt x="62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C1F1A"/>
                </a:solidFill>
                <a:latin typeface="Microsoft YaHei"/>
                <a:ea typeface="Microsoft YaHei"/>
              </a:rPr>
              <a:t>接口测试</a:t>
            </a:r>
            <a:r>
              <a:rPr lang="en-US" sz="1200">
                <a:solidFill>
                  <a:srgbClr val="1C1F1A"/>
                </a:solidFill>
                <a:latin typeface="Microsoft YaHei"/>
                <a:ea typeface="Microsoft YaHei"/>
              </a:rPr>
              <a:t xml:space="preserve"> api-test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429000" y="1885950"/>
            <a:ext cx="762000" cy="3048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950" b="1">
                <a:solidFill>
                  <a:srgbClr val="2F4A2B"/>
                </a:solidFill>
                <a:latin typeface="Microsoft YaHei"/>
                <a:ea typeface="Microsoft YaHei"/>
              </a:rPr>
              <a:t>68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191000" y="1962150"/>
            <a:ext cx="2286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鉴权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越权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档案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用药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571500" y="2352675"/>
            <a:ext cx="5905500" cy="628650"/>
          </a:xfrm>
          <a:custGeom>
            <a:pathLst>
              <a:path w="620" h="66">
                <a:moveTo>
                  <a:pt x="0" y="65"/>
                </a:moveTo>
                <a:lnTo>
                  <a:pt x="620" y="65"/>
                </a:lnTo>
                <a:lnTo>
                  <a:pt x="62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25622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C1F1A"/>
                </a:solidFill>
                <a:latin typeface="Microsoft YaHei"/>
                <a:ea typeface="Microsoft YaHei"/>
              </a:rPr>
              <a:t>木牌回归</a:t>
            </a:r>
            <a:r>
              <a:rPr lang="en-US" sz="1200">
                <a:solidFill>
                  <a:srgbClr val="1C1F1A"/>
                </a:solidFill>
                <a:latin typeface="Microsoft YaHei"/>
                <a:ea typeface="Microsoft YaHei"/>
              </a:rPr>
              <a:t xml:space="preserve"> check-board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429000" y="2505075"/>
            <a:ext cx="762000" cy="3048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950" b="1">
                <a:solidFill>
                  <a:srgbClr val="2F4A2B"/>
                </a:solidFill>
                <a:latin typeface="Microsoft YaHei"/>
                <a:ea typeface="Microsoft YaHei"/>
              </a:rPr>
              <a:t>33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191000" y="2581275"/>
            <a:ext cx="2286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打卡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三处同步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resize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2971800"/>
            <a:ext cx="5905500" cy="628650"/>
          </a:xfrm>
          <a:custGeom>
            <a:pathLst>
              <a:path w="620" h="66">
                <a:moveTo>
                  <a:pt x="0" y="65"/>
                </a:moveTo>
                <a:lnTo>
                  <a:pt x="620" y="65"/>
                </a:lnTo>
                <a:lnTo>
                  <a:pt x="62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318135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C1F1A"/>
                </a:solidFill>
                <a:latin typeface="Microsoft YaHei"/>
                <a:ea typeface="Microsoft YaHei"/>
              </a:rPr>
              <a:t>提醒逻辑</a:t>
            </a:r>
            <a:r>
              <a:rPr lang="en-US" sz="1200">
                <a:solidFill>
                  <a:srgbClr val="1C1F1A"/>
                </a:solidFill>
                <a:latin typeface="Microsoft YaHei"/>
                <a:ea typeface="Microsoft YaHei"/>
              </a:rPr>
              <a:t xml:space="preserve"> check-reminder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429000" y="3124200"/>
            <a:ext cx="762000" cy="3048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950" b="1">
                <a:solidFill>
                  <a:srgbClr val="2F4A2B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191000" y="3200400"/>
            <a:ext cx="2286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时间计算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免打扰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漏服封顶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71500" y="3590925"/>
            <a:ext cx="5905500" cy="628650"/>
          </a:xfrm>
          <a:custGeom>
            <a:pathLst>
              <a:path w="620" h="66">
                <a:moveTo>
                  <a:pt x="0" y="65"/>
                </a:moveTo>
                <a:lnTo>
                  <a:pt x="620" y="65"/>
                </a:lnTo>
                <a:lnTo>
                  <a:pt x="62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2DED0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38004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C1F1A"/>
                </a:solidFill>
                <a:latin typeface="Microsoft YaHei"/>
                <a:ea typeface="Microsoft YaHei"/>
              </a:rPr>
              <a:t>登录与入口</a:t>
            </a:r>
            <a:r>
              <a:rPr lang="en-US" sz="1200">
                <a:solidFill>
                  <a:srgbClr val="1C1F1A"/>
                </a:solidFill>
                <a:latin typeface="Microsoft YaHei"/>
                <a:ea typeface="Microsoft YaHei"/>
              </a:rPr>
              <a:t xml:space="preserve"> check-login / entry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429000" y="3743325"/>
            <a:ext cx="762000" cy="3048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950" b="1">
                <a:solidFill>
                  <a:srgbClr val="2F4A2B"/>
                </a:solidFill>
                <a:latin typeface="Microsoft YaHei"/>
                <a:ea typeface="Microsoft YaHei"/>
              </a:rPr>
              <a:t>26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191000" y="3819525"/>
            <a:ext cx="2286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Cookie /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越权</a:t>
            </a:r>
            <a:r>
              <a:rPr lang="en-US" sz="1050">
                <a:solidFill>
                  <a:srgbClr val="8B8A7E"/>
                </a:solidFill>
                <a:latin typeface="Microsoft YaHei"/>
                <a:ea typeface="Microsoft YaHei"/>
              </a:rPr>
              <a:t xml:space="preserve"> / 404 </a:t>
            </a: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出口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441960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C1F1A"/>
                </a:solidFill>
                <a:latin typeface="Microsoft YaHei"/>
                <a:ea typeface="Microsoft YaHei"/>
              </a:rPr>
              <a:t>类型与规范</a:t>
            </a:r>
            <a:r>
              <a:rPr lang="en-US" sz="1200">
                <a:solidFill>
                  <a:srgbClr val="1C1F1A"/>
                </a:solidFill>
                <a:latin typeface="Microsoft YaHei"/>
                <a:ea typeface="Microsoft YaHei"/>
              </a:rPr>
              <a:t xml:space="preserve"> tsc / eslint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429000" y="4362450"/>
            <a:ext cx="762000" cy="3048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950" b="1">
                <a:solidFill>
                  <a:srgbClr val="2F4A2B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191000" y="4438650"/>
            <a:ext cx="2286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8B8A7E"/>
                </a:solidFill>
                <a:latin typeface="Microsoft YaHei"/>
                <a:ea typeface="Microsoft YaHei"/>
              </a:rPr>
              <a:t>错误数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71500" y="4895850"/>
            <a:ext cx="5905500" cy="447675"/>
          </a:xfrm>
          <a:prstGeom prst="roundRect">
            <a:avLst>
              <a:gd name="adj" fmla="val 8511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42950" y="5019675"/>
            <a:ext cx="4324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合计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147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项断言，全部通过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067300" y="50482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8C09A"/>
                </a:solidFill>
                <a:latin typeface="Microsoft YaHei"/>
                <a:ea typeface="Microsoft YaHei"/>
              </a:rPr>
              <a:t>可重复执行，不靠肉眼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71500" y="5486400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F4A2B"/>
                </a:solidFill>
                <a:latin typeface="Microsoft YaHei"/>
                <a:ea typeface="Microsoft YaHei"/>
              </a:rPr>
              <a:t>三条工程习惯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71500" y="57721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校验脚本都写成可重复执行的</a:t>
            </a: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 .mjs / .ts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，跑完输出计数，不靠肉眼比对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71500" y="609600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打包红线用代码表达（排除密钥、数据库、上传件），并在打包后独立复查一遍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排除规则与复查规则不共用同一套窄逻辑，否则两边一起漏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781800" y="1447800"/>
            <a:ext cx="483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F4A2B"/>
                </a:solidFill>
                <a:latin typeface="Microsoft YaHei"/>
                <a:ea typeface="Microsoft YaHei"/>
              </a:rPr>
              <a:t>四条部署路线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781800" y="1762125"/>
            <a:ext cx="4838700" cy="361950"/>
          </a:xfrm>
          <a:prstGeom prst="roundRect">
            <a:avLst>
              <a:gd name="adj" fmla="val 10526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896100" y="185737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C1F1A"/>
                </a:solidFill>
                <a:latin typeface="Microsoft YaHei"/>
                <a:ea typeface="Microsoft YaHei"/>
              </a:rPr>
              <a:t>本机直跑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734300" y="1857375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双击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Start MedAI.bat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，首次自动补齐四步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781800" y="2200275"/>
            <a:ext cx="4838700" cy="361950"/>
          </a:xfrm>
          <a:prstGeom prst="roundRect">
            <a:avLst>
              <a:gd name="adj" fmla="val 10526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96100" y="229552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C1F1A"/>
                </a:solidFill>
                <a:latin typeface="Microsoft YaHei"/>
                <a:ea typeface="Microsoft YaHei"/>
              </a:rPr>
              <a:t>Docker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734300" y="2295525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多阶段构建，只留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standalone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产物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781800" y="2638425"/>
            <a:ext cx="4838700" cy="361950"/>
          </a:xfrm>
          <a:prstGeom prst="roundRect">
            <a:avLst>
              <a:gd name="adj" fmla="val 10526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96100" y="273367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Caddy </a:t>
            </a:r>
            <a:r>
              <a:rPr lang="zh-CN" sz="1125" b="1">
                <a:solidFill>
                  <a:srgbClr val="1C1F1A"/>
                </a:solidFill>
                <a:latin typeface="Microsoft YaHei"/>
                <a:ea typeface="Microsoft YaHei"/>
              </a:rPr>
              <a:t>反代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734300" y="2733675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自动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HTTPS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，容器只监听内网端口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781800" y="3076575"/>
            <a:ext cx="4838700" cy="361950"/>
          </a:xfrm>
          <a:prstGeom prst="roundRect">
            <a:avLst>
              <a:gd name="adj" fmla="val 10526"/>
            </a:avLst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96100" y="317182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C1F1A"/>
                </a:solidFill>
                <a:latin typeface="Microsoft YaHei"/>
                <a:ea typeface="Microsoft YaHei"/>
              </a:rPr>
              <a:t>离线包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734300" y="3171825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>47MB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，解压即跑，无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CDN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依赖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781800" y="3581400"/>
            <a:ext cx="483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F4A2B"/>
                </a:solidFill>
                <a:latin typeface="Microsoft YaHei"/>
                <a:ea typeface="Microsoft YaHei"/>
              </a:rPr>
              <a:t>交付前的真实验收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781800" y="3876675"/>
            <a:ext cx="4838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解压到独立目录</a:t>
            </a: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 → npm ci → prisma generate → db push →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起服务</a:t>
            </a:r>
            <a:r>
              <a:rPr lang="en-US" sz="1125">
                <a:solidFill>
                  <a:srgbClr val="33352E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跑一遍登录、建档、加药、打卡、科普库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819900" y="4486275"/>
            <a:ext cx="4838700" cy="695325"/>
          </a:xfrm>
          <a:prstGeom prst="rect">
            <a:avLst/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6781800" y="4486275"/>
            <a:ext cx="4876800" cy="695325"/>
          </a:xfrm>
          <a:custGeom>
            <a:pathLst>
              <a:path w="512" h="73">
                <a:moveTo>
                  <a:pt x="0" y="0"/>
                </a:moveTo>
                <a:lnTo>
                  <a:pt x="4" y="0"/>
                </a:lnTo>
                <a:lnTo>
                  <a:pt x="4" y="73"/>
                </a:lnTo>
                <a:lnTo>
                  <a:pt x="0" y="73"/>
                </a:lnTo>
                <a:close/>
              </a:path>
            </a:pathLst>
          </a:custGeom>
          <a:solidFill>
            <a:srgbClr val="C0473C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934200" y="4581525"/>
            <a:ext cx="4572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C0473C"/>
                </a:solidFill>
                <a:latin typeface="Microsoft YaHei"/>
                <a:ea typeface="Microsoft YaHei"/>
              </a:rPr>
              <a:t>这一步抓到过一个真</a:t>
            </a:r>
            <a:r>
              <a:rPr lang="en-US" sz="1050" b="1">
                <a:solidFill>
                  <a:srgbClr val="C0473C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050" b="1">
                <a:solidFill>
                  <a:srgbClr val="C0473C"/>
                </a:solidFill>
                <a:latin typeface="Microsoft YaHei"/>
                <a:ea typeface="Microsoft YaHei"/>
              </a:rPr>
              <a:t>：</a:t>
            </a:r>
            <a:r>
              <a:rPr lang="zh-CN" sz="1050">
                <a:solidFill>
                  <a:srgbClr val="33352E"/>
                </a:solidFill>
                <a:latin typeface="Microsoft YaHei"/>
                <a:ea typeface="Microsoft YaHei"/>
              </a:rPr>
              <a:t>排除规则把</a:t>
            </a:r>
            <a:r>
              <a:rPr lang="en-US" sz="1050">
                <a:solidFill>
                  <a:srgbClr val="33352E"/>
                </a:solidFill>
                <a:latin typeface="Microsoft YaHei"/>
                <a:ea typeface="Microsoft YaHei"/>
              </a:rPr>
              <a:t xml:space="preserve"> .next/node_modules </a:t>
            </a:r>
            <a:r>
              <a:rPr lang="zh-CN" sz="1050">
                <a:solidFill>
                  <a:srgbClr val="33352E"/>
                </a:solidFill>
                <a:latin typeface="Microsoft YaHei"/>
                <a:ea typeface="Microsoft YaHei"/>
              </a:rPr>
              <a:t>整棵剪掉，解压后</a:t>
            </a:r>
            <a:r>
              <a:rPr lang="en-US" sz="1050">
                <a:solidFill>
                  <a:srgbClr val="33352E"/>
                </a:solidFill>
                <a:latin typeface="Microsoft YaHei"/>
                <a:ea typeface="Microsoft YaHei"/>
              </a:rPr>
              <a:t xml:space="preserve"> next start </a:t>
            </a:r>
            <a:r>
              <a:rPr lang="zh-CN" sz="1050">
                <a:solidFill>
                  <a:srgbClr val="33352E"/>
                </a:solidFill>
                <a:latin typeface="Microsoft YaHei"/>
                <a:ea typeface="Microsoft YaHei"/>
              </a:rPr>
              <a:t>直接报错</a:t>
            </a:r>
            <a:r>
              <a:rPr lang="en-US" sz="1050">
                <a:solidFill>
                  <a:srgbClr val="33352E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33352E"/>
                </a:solidFill>
                <a:latin typeface="Microsoft YaHei"/>
                <a:ea typeface="Microsoft YaHei"/>
              </a:rPr>
              <a:t>只有真解压才会暴露。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781800" y="5276850"/>
            <a:ext cx="4838700" cy="695325"/>
          </a:xfrm>
          <a:prstGeom prst="roundRect">
            <a:avLst>
              <a:gd name="adj" fmla="val 5479"/>
            </a:avLst>
          </a:prstGeom>
          <a:solidFill>
            <a:srgbClr val="1F3320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915150" y="5381625"/>
            <a:ext cx="4572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D8E4CC"/>
                </a:solidFill>
                <a:latin typeface="Microsoft YaHei"/>
                <a:ea typeface="Microsoft YaHei"/>
              </a:rPr>
              <a:t>Next.js 16 · React 19 · TS 5.9 · Three.js 0.170 · Prisma 6 · SQLite · DeepSeek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1280, height: 720, background: '#FFFFFF', padding: 0 }}&gt;&#13;&#10;  &lt;Box style={{ flexDirection: 'column', width: 1280, height: 720 }}&gt;&#13;&#10;    &lt;Box style={{&#13;&#10;      width: 1280, height: 44, background: '#F3F1E7', flexDirection: 'row',&#13;&#10;      alignItems: 'center', justifyContent: 'space-between',&#13;&#10;      paddingLeft: 60, paddingRight: 60,&#13;&#10;    }}&gt;&#13;&#10;      &lt;Text style={{ fontSize: 15, color: '#2F4A2B', letterSpacing: 2, fontWeight: 'bold' }}&gt;07　创新点&lt;/Text&gt;&#13;&#10;      &lt;Text style={{ fontSize: 14, color: '#8B8A7E', letterSpacing: 2 }}&gt;MedAI&lt;/Text&gt;&#13;&#10;    &lt;/Box&gt;&#13;&#10;    &lt;Box style={{ width: 1280, height: 2, background: '#2F4A2B' }} /&gt;&#13;&#10;&#13;&#10;    &lt;Box style={{ paddingLeft: 60, paddingRight: 60, paddingTop: 20, flexDirection: 'column' }}&gt;&#13;&#10;      &lt;Text style={{ fontSize: 34, fontWeight: 'bold', color: '#1C1F1A', fontFamily: 'Microsoft YaHei' }}&gt;&#13;&#10;        七条创新点，没有一条是&quot;多加一个功能&quot;&#13;&#10;      &lt;/Text&gt;&#13;&#10;      &lt;Text style={{ fontSize: 17, color: '#55544A', marginTop: 6 }}&gt;&#13;&#10;        技术创新点把&quot;该确定的&quot;从模型手里拿回来；应用创新点把一个动作的完成成本压到最低。&#13;&#10;      &lt;/Text&gt;&#13;&#10;&#13;&#10;      &lt;Box style={{ flexDirection: 'row', marginTop: 18, gap: 26 }}&gt;&#13;&#10;        &lt;Box style={{ flex: 1, flexDirection: 'column' }}&gt;&#13;&#10;          &lt;Box style={{&#13;&#10;            flexDirection: 'row', alignItems: 'center', background: '#2F4A2B', borderRadius: 4,&#13;&#10;            paddingTop: 10, paddingBottom: 10, paddingLeft: 14, paddingRight: 14,&#13;&#10;          }}&gt;&#13;&#10;            &lt;Text style={{ fontSize: 18, fontWeight: 'bold', color: '#FFFFFF' }}&gt;技术创新点&lt;/Text&gt;&#13;&#10;            &lt;Text style={{ fontSize: 13, color: '#A8C09A', flex: 1, textAlign: 'right' }}&gt;4 条 · 让行为可预测&lt;/Text&gt;&#13;&#10;          &lt;/Box&gt;&#13;&#10;&#13;&#10;          &lt;Box style={{ flexDirection: 'row', marginTop: 12 }}&gt;&#13;&#10;            &lt;Text style={{ fontSize: 15, fontWeight: 'bold', color: '#C0473C', width: 30 }}&gt;T1&lt;/Text&gt;&#13;&#10;            &lt;Box style={{ flexDirection: 'column', flex: 1 }}&gt;&#13;&#10;              &lt;Text style={{ fontSize: 17, fontWeight: 'bold', color: '#1C1F1A' }}&gt;红旗症状不走模型&lt;/Text&gt;&#13;&#10;              &lt;Text style={{ fontSize: 14, color: '#55544A', marginTop: 2, lineHeight: 1.5 }}&gt;&#13;&#10;                别人让模型判断&quot;算不算紧急&quot;；我们用 11 条本地正则先拦，126ms 出结果，模型挂了照样生效&#13;&#10;              &lt;/Text&gt;&#13;&#10;            &lt;/Box&gt;&#13;&#10;          &lt;/Box&gt;&#13;&#10;&#13;&#10;          &lt;Box style={{ flexDirection: 'row', marginTop: 17 }}&gt;&#13;&#10;            &lt;Text style={{ fontSize: 15, fontWeight: 'bold', color: '#C0473C', width: 30 }}&gt;T2&lt;/Text&gt;&#13;&#10;            &lt;Box style={{ flexDirection: 'column', flex: 1 }}&gt;&#13;&#10;              &lt;Text style={{ fontSize: 17, fontWeight: 'bold', color: '#1C1F1A' }}&gt;冲突判定用代码&lt;/Text&gt;&#13;&#10;              &lt;Text style={{ fontSize: 14, color: '#55544A', marginTop: 2, lineHeight: 1.5 }}&gt;&#13;&#10;                别人让模型判断&quot;与档案是否矛盾&quot;；我们用 diffFacts() 做字段级比对，模型只负责抽取&#13;&#10;              &lt;/Text&gt;&#13;&#10;            &lt;/Box&gt;&#13;&#10;          &lt;/Box&gt;&#13;&#10;&#13;&#10;          &lt;Box style={{ flexDirection: 'row', marginTop: 17 }}&gt;&#13;&#10;            &lt;Text style={{ fontSize: 15, fontWeight: 'bold', color: '#C0473C', width: 30 }}&gt;T3&lt;/Text&gt;&#13;&#10;            &lt;Box style={{ flexDirection: 'column', flex: 1 }}&gt;&#13;&#10;              &lt;Text style={{ fontSize: 17, fontWeight: 'bold', color: '#1C1F1A' }}&gt;3D 木牌贴真字体&lt;/Text&gt;&#13;&#10;              &lt;Text style={{ fontSize: 14, color: '#55544A', marginTop: 2, lineHeight: 1.5 }}&gt;&#13;&#10;                别人把文字烘成贴图，缩放就糊；我们把 HTML 文字层用单应矩阵投影到板面四角&#13;&#10;              &lt;/Text&gt;&#13;&#10;            &lt;/Box&gt;&#13;&#10;          &lt;/Box&gt;&#13;&#10;&#13;&#10;          &lt;Box style={{ flexDirection: 'row', marginTop: 17 }}&gt;&#13;&#10;            &lt;Text style={{ fontSize: 15, fontWeight: 'bold', color: '#C0473C', width: 30 }}&gt;T4&lt;/Text&gt;&#13;&#10;            &lt;Box style={{ flexDirection: 'column', flex: 1 }}&gt;&#13;&#10;              &lt;Text style={{ fontSize: 17, fontWeight: 'bold', color: '#1C1F1A' }}&gt;提醒走两条通道&lt;/Text&gt;&#13;&#10;              &lt;Text style={{ fontSize: 14, color: '#55544A', marginTop: 2, lineHeight: 1.5 }}&gt;&#13;&#10;                别人只依赖系统通知，拒一次权限功能就废；我们先让兔子说一句，有权限再补通知&#13;&#10;              &lt;/Text&gt;&#13;&#10;            &lt;/Box&gt;&#13;&#10;          &lt;/Box&gt;&#13;&#10;        &lt;/Box&gt;&#13;&#10;&#13;&#10;        &lt;Box style={{ width: 1, background: '#E2DED0' }} /&gt;&#13;&#10;&#13;&#10;        &lt;Box style={{ flex: 1, flexDirection: 'column' }}&gt;&#13;&#10;          &lt;Box style={{&#13;&#10;            flexDirection: 'row', alignItems: 'center', background: '#3A5A34', borderRadius: 4,&#13;&#10;            paddingTop: 10, paddingBottom: 10, paddingLeft: 14, paddingRight: 14,&#13;&#10;          }}&gt;&#13;&#10;            &lt;Text style={{ fontSize: 18, fontWeight: 'bold', color: '#FFFFFF' }}&gt;应用创新点&lt;/Text&gt;&#13;&#10;            &lt;Text style={{ fontSize: 13, color: '#A8C09A', flex: 1, textAlign: 'right' }}&gt;3 条 · 压低完成成本&lt;/Text&gt;&#13;&#10;          &lt;/Box&gt;&#13;&#10;&#13;&#10;          &lt;Box style={{ flexDirection: 'row', marginTop: 12 }}&gt;&#13;&#10;            &lt;Text style={{ fontSize: 15, fontWeight: 'bold', color: '#2F4A2B', width: 30 }}&gt;A1&lt;/Text&gt;&#13;&#10;            &lt;Box style={{ flexDirection: 'column', flex: 1 }}&gt;&#13;&#10;              &lt;Text style={{ fontSize: 17, fontWeight: 'bold', color: '#1C1F1A' }}&gt;打卡压到一行一次点击&lt;/Text&gt;&#13;&#10;              &lt;Text style={{ fontSize: 14, color: '#55544A', marginTop: 2, lineHeight: 1.5 }}&gt;&#13;&#10;                别人的路径是四步（提醒→档案→找药→点已服），我们是两步，且厨房里一只手能完成&#13;&#10;              &lt;/Text&gt;&#13;&#10;            &lt;/Box&gt;&#13;&#10;          &lt;/Box&gt;&#13;&#10;&#13;&#10;          &lt;Box style={{ flexDirection: 'row', marginTop: 17 }}&gt;&#13;&#10;            &lt;Text style={{ fontSize: 15, fontWeight: 'bold', color: '#2F4A2B', width: 30 }}&gt;A2&lt;/Text&gt;&#13;&#10;            &lt;Box style={{ flexDirection: 'column', flex: 1 }}&gt;&#13;&#10;              &lt;Text style={{ fontSize: 17, fontWeight: 'bold', color: '#1C1F1A' }}&gt;把问诊变成一张能带走的纸&lt;/Text&gt;&#13;&#10;              &lt;Text style={{ fontSize: 14, color: '#55544A', marginTop: 2, lineHeight: 1.5 }}&gt;&#13;&#10;                别人聊完就结束；我们按 A4 重排版式，可打印、可纯文本，还能把时间轴投影给医生看&#13;&#10;              &lt;/Text&gt;&#13;&#10;            &lt;/Box&gt;&#13;&#10;          &lt;/Box&gt;&#13;&#10;&#13;&#10;          &lt;Box style={{ flexDirection: 'row', marginTop: 17 }}&gt;&#13;&#10;            &lt;Text style={{ fontSize: 15, fontWeight: 'bold', color: '#2F4A2B', width: 30 }}&gt;A3&lt;/Text&gt;&#13;&#10;            &lt;Box style={{ flexDirection: 'column', flex: 1 }}&gt;&#13;&#10;              &lt;Text style={{ fontSize: 17, fontWeight: 'bold', color: '#1C1F1A' }}&gt;一个账号管全家且互不可见&lt;/Text&gt;&#13;&#10;              &lt;Text style={{ fontSize: 14, color: '#55544A', marginTop: 2, lineHeight: 1.5 }}&gt;&#13;&#10;                别人要么一人一号（老人不会注册），要么全部可见；我们在 SQL 层挡越权&#13;&#10;              &lt;/Text&gt;&#13;&#10;            &lt;/Box&gt;&#13;&#10;          &lt;/Box&gt;&#13;&#10;&#13;&#10;          &lt;Box style={{&#13;&#10;            marginTop: 16, background: '#FAF7EF', borderLeft: '4px solid #2F4A2B',&#13;&#10;            paddingTop: 11, paddingBottom: 11, paddingLeft: 13, paddingRight: 13,&#13;&#10;          }}&gt;&#13;&#10;            &lt;Text style={{ fontSize: 15, color: '#33352E', lineHeight: 1.55 }}&gt;&#13;&#10;              &lt;span style={{ fontWeight: 'bold' }}&gt;差异不在功能数量，而在&quot;一个动作的完成度&quot;：&lt;/span&gt;&#13;&#10;              打卡是两个动作、问诊是一次点击、复诊材料是一张能打印的纸。&#13;&#10;            &lt;/Text&gt;&#13;&#10;          &lt;/Box&gt;&#13;&#10;        &lt;/Box&gt;&#13;&#10;      &lt;/Box&gt;&#13;&#10;&#13;&#10;      &lt;Box style={{&#13;&#10;        marginTop: 18, background: '#2F4A2B', borderRadius: 4,&#13;&#10;        paddingTop: 13, paddingBottom: 13, paddingLeft: 20, paddingRight: 20,&#13;&#10;        flexDirection: 'row', alignItems: 'center',&#13;&#10;      }}&gt;&#13;&#10;        &lt;Text style={{ fontSize: 14, color: '#A8C09A', letterSpacing: 1, width: 130 }}&gt;对应评分维度&lt;/Text&gt;&#13;&#10;        &lt;Text style={{ fontSize: 16, color: '#FFFFFF', flex: 1, lineHeight: 1.5 }}&gt;&#13;&#10;          AI 技术深度（T1 / T2）· 创新性（T3 / T4 / A1 / A2 / A3）· 用户体验与交互（A1）·&#13;&#10;          实用性（A2 / A3）—— 七条创新点都能被当场演示或当场验证。&#13;&#10;        &lt;/Text&gt;&#13;&#10;      &lt;/Box&gt;&#13;&#10;    &lt;/Box&gt;&#13;&#10;&#13;&#10;    &lt;Box style={{&#13;&#10;      position: 'absolute', bottom: 0, left: 0, width: 1280, height: 40,&#13;&#10;      flexDirection: 'row', alignItems: 'center', justifyContent: 'space-between',&#13;&#10;      paddingLeft: 60, paddingRight: 60,&#13;&#10;    }}&gt;&#13;&#10;      &lt;Text style={{ fontSize: 13, color: '#8B8A7E' }}&gt;广东医科大学 · MedAI&lt;/Text&gt;&#13;&#10;      &lt;Text style={{ fontSize: 13, color: '#2F4A2B' }}&gt;13 / 1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0" y="0"/>
            <a:ext cx="12192000" cy="419100"/>
          </a:xfrm>
          <a:prstGeom prst="rect">
            <a:avLst/>
          </a:prstGeom>
          <a:solidFill>
            <a:srgbClr val="F3F1E7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71500" y="123825"/>
            <a:ext cx="866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07</a:t>
            </a:r>
            <a:r>
              <a:rPr lang="zh-CN" sz="1125" b="1" spc="150">
                <a:solidFill>
                  <a:srgbClr val="2F4A2B"/>
                </a:solidFill>
                <a:latin typeface="Microsoft YaHei"/>
                <a:ea typeface="Microsoft YaHei"/>
              </a:rPr>
              <a:t>　创新点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096625" y="13335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8A7E"/>
                </a:solidFill>
                <a:latin typeface="Microsoft YaHei"/>
                <a:ea typeface="Microsoft YaHei"/>
              </a:rPr>
              <a:t>MedAI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0" y="419100"/>
            <a:ext cx="12192000" cy="19050"/>
          </a:xfrm>
          <a:prstGeom prst="rect">
            <a:avLst/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七条创新点，没有一条是</a:t>
            </a:r>
            <a:r>
              <a:rPr lang="en-US" sz="2550" b="1">
                <a:solidFill>
                  <a:srgbClr val="1C1F1A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1C1F1A"/>
                </a:solidFill>
                <a:latin typeface="Microsoft YaHei"/>
                <a:ea typeface="Microsoft YaHei"/>
              </a:rPr>
              <a:t>多加一个功能</a:t>
            </a:r>
            <a:r>
              <a:rPr lang="en-US" sz="2550" b="1">
                <a:solidFill>
                  <a:srgbClr val="1C1F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71500" y="1076325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技术创新点把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该确定的</a:t>
            </a:r>
            <a:r>
              <a:rPr lang="en-US" sz="1275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5544A"/>
                </a:solidFill>
                <a:latin typeface="Microsoft YaHei"/>
                <a:ea typeface="Microsoft YaHei"/>
              </a:rPr>
              <a:t>从模型手里拿回来；应用创新点把一个动作的完成成本压到最低。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71500" y="1447800"/>
            <a:ext cx="5276850" cy="400050"/>
          </a:xfrm>
          <a:prstGeom prst="roundRect">
            <a:avLst>
              <a:gd name="adj" fmla="val 9524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04850" y="15430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技术创新点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562100" y="1571625"/>
            <a:ext cx="41529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A8C09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75">
                <a:solidFill>
                  <a:srgbClr val="A8C09A"/>
                </a:solidFill>
                <a:latin typeface="Microsoft YaHei"/>
                <a:ea typeface="Microsoft YaHei"/>
              </a:rPr>
              <a:t>条</a:t>
            </a:r>
            <a:r>
              <a:rPr lang="en-US" sz="975">
                <a:solidFill>
                  <a:srgbClr val="A8C09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A8C09A"/>
                </a:solidFill>
                <a:latin typeface="Microsoft YaHei"/>
                <a:ea typeface="Microsoft YaHei"/>
              </a:rPr>
              <a:t>让行为可预测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1500" y="1962150"/>
            <a:ext cx="285750" cy="704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0473C"/>
                </a:solidFill>
                <a:latin typeface="Microsoft YaHei"/>
                <a:ea typeface="Microsoft YaHei"/>
              </a:rPr>
              <a:t>T1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57250" y="196215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红旗症状不走模型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57250" y="2181225"/>
            <a:ext cx="4991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别人让模型判断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算不算紧急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；我们用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条本地正则先拦，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126ms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出结果，模型挂了照样生效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71500" y="2828925"/>
            <a:ext cx="285750" cy="704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0473C"/>
                </a:solidFill>
                <a:latin typeface="Microsoft YaHei"/>
                <a:ea typeface="Microsoft YaHei"/>
              </a:rPr>
              <a:t>T2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57250" y="28289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冲突判定用代码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57250" y="3048000"/>
            <a:ext cx="4991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别人让模型判断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与档案是否矛盾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；我们用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diffFacts()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做字段级比对，模型只负责抽取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3695700"/>
            <a:ext cx="285750" cy="466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0473C"/>
                </a:solidFill>
                <a:latin typeface="Microsoft YaHei"/>
                <a:ea typeface="Microsoft YaHei"/>
              </a:rPr>
              <a:t>T3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57250" y="369570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C1F1A"/>
                </a:solidFill>
                <a:latin typeface="Microsoft YaHei"/>
                <a:ea typeface="Microsoft YaHei"/>
              </a:rPr>
              <a:t xml:space="preserve">3D </a:t>
            </a: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木牌贴真字体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57250" y="3914775"/>
            <a:ext cx="4991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别人把文字烘成贴图，缩放就糊；我们把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HTML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文字层用单应矩阵投影到板面四角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71500" y="4324350"/>
            <a:ext cx="285750" cy="466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0473C"/>
                </a:solidFill>
                <a:latin typeface="Microsoft YaHei"/>
                <a:ea typeface="Microsoft YaHei"/>
              </a:rPr>
              <a:t>T4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57250" y="432435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提醒走两条通道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57250" y="4543425"/>
            <a:ext cx="4991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别人只依赖系统通知，拒一次权限功能就废；我们先让兔子说一句，有权限再补通知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0" y="1447800"/>
            <a:ext cx="9525" cy="3609975"/>
          </a:xfrm>
          <a:prstGeom prst="rect">
            <a:avLst/>
          </a:prstGeom>
          <a:solidFill>
            <a:srgbClr val="E2DED0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6353175" y="1447800"/>
            <a:ext cx="5267325" cy="400050"/>
          </a:xfrm>
          <a:prstGeom prst="roundRect">
            <a:avLst>
              <a:gd name="adj" fmla="val 9524"/>
            </a:avLst>
          </a:prstGeom>
          <a:solidFill>
            <a:srgbClr val="3A5A34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486525" y="15430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应用创新点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343775" y="1571625"/>
            <a:ext cx="4143375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A8C09A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975">
                <a:solidFill>
                  <a:srgbClr val="A8C09A"/>
                </a:solidFill>
                <a:latin typeface="Microsoft YaHei"/>
                <a:ea typeface="Microsoft YaHei"/>
              </a:rPr>
              <a:t>条</a:t>
            </a:r>
            <a:r>
              <a:rPr lang="en-US" sz="975">
                <a:solidFill>
                  <a:srgbClr val="A8C09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A8C09A"/>
                </a:solidFill>
                <a:latin typeface="Microsoft YaHei"/>
                <a:ea typeface="Microsoft YaHei"/>
              </a:rPr>
              <a:t>压低完成成本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353175" y="1962150"/>
            <a:ext cx="285750" cy="704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F4A2B"/>
                </a:solidFill>
                <a:latin typeface="Microsoft YaHei"/>
                <a:ea typeface="Microsoft YaHei"/>
              </a:rPr>
              <a:t>A1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638925" y="196215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打卡压到一行一次点击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638925" y="2181225"/>
            <a:ext cx="49815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别人的路径是四步（提醒→档案→找药→点已服），我们是两步，且厨房里一只手能完成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353175" y="2828925"/>
            <a:ext cx="285750" cy="704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F4A2B"/>
                </a:solidFill>
                <a:latin typeface="Microsoft YaHei"/>
                <a:ea typeface="Microsoft YaHei"/>
              </a:rPr>
              <a:t>A2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638925" y="2828925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把问诊变成一张能带走的纸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638925" y="3048000"/>
            <a:ext cx="49815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别人聊完就结束；我们按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A4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重排版式，可打印、可纯文本，还能把时间轴投影给医生看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353175" y="3695700"/>
            <a:ext cx="285750" cy="466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F4A2B"/>
                </a:solidFill>
                <a:latin typeface="Microsoft YaHei"/>
                <a:ea typeface="Microsoft YaHei"/>
              </a:rPr>
              <a:t>A3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638925" y="36957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1F1A"/>
                </a:solidFill>
                <a:latin typeface="Microsoft YaHei"/>
                <a:ea typeface="Microsoft YaHei"/>
              </a:rPr>
              <a:t>一个账号管全家且互不可见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638925" y="3914775"/>
            <a:ext cx="49815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别人要么一人一号（老人不会注册），要么全部可见；我们在</a:t>
            </a:r>
            <a:r>
              <a:rPr lang="en-US" sz="1050">
                <a:solidFill>
                  <a:srgbClr val="55544A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1050">
                <a:solidFill>
                  <a:srgbClr val="55544A"/>
                </a:solidFill>
                <a:latin typeface="Microsoft YaHei"/>
                <a:ea typeface="Microsoft YaHei"/>
              </a:rPr>
              <a:t>层挡越权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391275" y="4314825"/>
            <a:ext cx="5267325" cy="742950"/>
          </a:xfrm>
          <a:prstGeom prst="rect">
            <a:avLst/>
          </a:prstGeom>
          <a:solidFill>
            <a:srgbClr val="FAF7EF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353175" y="4314825"/>
            <a:ext cx="5305425" cy="742950"/>
          </a:xfrm>
          <a:custGeom>
            <a:pathLst>
              <a:path w="557" h="78">
                <a:moveTo>
                  <a:pt x="0" y="0"/>
                </a:moveTo>
                <a:lnTo>
                  <a:pt x="4" y="0"/>
                </a:lnTo>
                <a:lnTo>
                  <a:pt x="4" y="78"/>
                </a:lnTo>
                <a:lnTo>
                  <a:pt x="0" y="78"/>
                </a:lnTo>
                <a:close/>
              </a:path>
            </a:pathLst>
          </a:custGeom>
          <a:solidFill>
            <a:srgbClr val="2F4A2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515100" y="4419600"/>
            <a:ext cx="49815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33352E"/>
                </a:solidFill>
                <a:latin typeface="Microsoft YaHei"/>
                <a:ea typeface="Microsoft YaHei"/>
              </a:rPr>
              <a:t>差异不在功能数量，而在</a:t>
            </a:r>
            <a:r>
              <a:rPr lang="en-US" sz="1125" b="1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33352E"/>
                </a:solidFill>
                <a:latin typeface="Microsoft YaHei"/>
                <a:ea typeface="Microsoft YaHei"/>
              </a:rPr>
              <a:t>一个动作的完成度</a:t>
            </a:r>
            <a:r>
              <a:rPr lang="en-US" sz="1125" b="1">
                <a:solidFill>
                  <a:srgbClr val="33352E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33352E"/>
                </a:solidFill>
                <a:latin typeface="Microsoft YaHei"/>
                <a:ea typeface="Microsoft YaHei"/>
              </a:rPr>
              <a:t>：</a:t>
            </a:r>
            <a:r>
              <a:rPr lang="zh-CN" sz="1125">
                <a:solidFill>
                  <a:srgbClr val="33352E"/>
                </a:solidFill>
                <a:latin typeface="Microsoft YaHei"/>
                <a:ea typeface="Microsoft YaHei"/>
              </a:rPr>
              <a:t>打卡是两个动作、问诊是一次点击、复诊材料是一张能打印的纸。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71500" y="5229225"/>
            <a:ext cx="11049000" cy="800100"/>
          </a:xfrm>
          <a:prstGeom prst="roundRect">
            <a:avLst>
              <a:gd name="adj" fmla="val 4762"/>
            </a:avLst>
          </a:prstGeom>
          <a:solidFill>
            <a:srgbClr val="2F4A2B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62000" y="55530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8C09A"/>
                </a:solidFill>
                <a:latin typeface="Microsoft YaHei"/>
                <a:ea typeface="Microsoft YaHei"/>
              </a:rPr>
              <a:t>对应评分维度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2000250" y="5353050"/>
            <a:ext cx="9429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技术深度（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T1 / T2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）·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创新性（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T3 / T4 / A1 / A2 / A3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）·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用户体验与交互（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A1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）·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实用性（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A2 / A3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）——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七条创新点都能被当场演示或当场验证。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71500" y="65913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8A7E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8B8A7E"/>
                </a:solidFill>
                <a:latin typeface="Microsoft YaHei"/>
                <a:ea typeface="Microsoft YaHei"/>
              </a:rPr>
              <a:t xml:space="preserve"> · MedAI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201400" y="6591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F4A2B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97" name="" descr="&lt;Slide style={{ width: 1280, height: 720, background: '#1F3320', padding: 0 }}&gt;&#13;&#10;  &lt;Box style={{ flexDirection: 'column', width: 1280, height: 720 }}&gt;&#13;&#10;    &lt;Box style={{ flexDirection: 'row', width: 1280, height: 720 }}&gt;&#13;&#10;      &lt;Box style={{&#13;&#10;        width: 700, height: 720, paddingTop: 70, paddingLeft: 72, paddingRight: 40,&#13;&#10;        flexDirection: 'column', justifyContent: 'space-between', paddingBottom: 56,&#13;&#10;      }}&gt;&#13;&#10;        &lt;Box style={{ flexDirection: 'column' }}&gt;&#13;&#10;          &lt;Box style={{ flexDirection: 'row', alignItems: 'center', justifyContent: 'space-between' }}&gt;&#13;&#10;            &lt;Box style={{ flexDirection: 'row', alignItems: 'center' }}&gt;&#13;&#10;              &lt;Box style={{ width: 4, height: 26, background: '#8ABFEB', marginRight: 14 }} /&gt;&#13;&#10;              &lt;Text style={{ fontSize: 14, color: '#8FA680', letterSpacing: 3 }}&gt;结语&lt;/Text&gt;&#13;&#10;            &lt;/Box&gt;&#13;&#10;            &lt;Text style={{ fontSize: 13, color: '#7E9470', letterSpacing: 1 }}&gt;广东医科大学 · B 组 · 2026.10&lt;/Text&gt;&#13;&#10;          &lt;/Box&gt;&#13;&#10;          &lt;Text style={{ fontSize: 15, color: '#7E9470', marginTop: 16, lineHeight: 1.6 }}&gt;&#13;&#10;            MedAI 是一个面向普通家庭的健康档案与 AI 问诊工具：&lt;br /&gt;&#13;&#10;            不替代医生，只做记录、提醒、翻译和整理。&#13;&#10;          &lt;/Text&gt;&#13;&#10;        &lt;/Box&gt;&#13;&#10;&#13;&#10;        &lt;Box style={{ flexDirection: 'column', marginTop: 40 }}&gt;&#13;&#10;          &lt;Text style={{ fontSize: 40, fontWeight: 'bold', color: '#FFFFFF', lineHeight: 1.45, fontFamily: 'Microsoft YaHei' }}&gt;&#13;&#10;            我们想做的不是&lt;br /&gt;&#13;&#10;            又一个 AI 聊天框，&lt;br /&gt;&#13;&#10;            而是&lt;span style={{ color: '#8ABFEB' }}&gt;一个家里真的会打开&lt;/span&gt;的东西。&#13;&#10;          &lt;/Text&gt;&#13;&#10;&#13;&#10;          &lt;Box style={{ flexDirection: 'column', marginTop: 30, gap: 9 }}&gt;&#13;&#10;            &lt;Text style={{ fontSize: 17, color: '#C6D8B8', lineHeight: 1.6 }}&gt;&#13;&#10;              · 不诊断、不开处方，也不替你决定哪条信息重要&#13;&#10;            &lt;/Text&gt;&#13;&#10;            &lt;Text style={{ fontSize: 17, color: '#C6D8B8', lineHeight: 1.6 }}&gt;&#13;&#10;              · 安全判断不交给模型，判断权留在患者手里&#13;&#10;            &lt;/Text&gt;&#13;&#10;            &lt;Text style={{ fontSize: 17, color: '#C6D8B8', lineHeight: 1.6 }}&gt;&#13;&#10;              · 一个 47MB 的离线包解开就能跑，断网也能用&#13;&#10;            &lt;/Text&gt;&#13;&#10;          &lt;/Box&gt;&#13;&#10;        &lt;/Box&gt;&#13;&#10;&#13;&#10;        &lt;Box style={{&#13;&#10;          position: 'absolute', bottom: 56, left: 72, width: 588,&#13;&#10;          flexDirection: 'row', alignItems: 'center', justifyContent: 'space-between',&#13;&#10;          borderTop: '1px solid #3C5138', paddingTop: 16,&#13;&#10;        }}&gt;&#13;&#10;          &lt;Text style={{ fontSize: 13, color: '#7E9470' }}&gt;&#13;&#10;            Next.js 16 · React 19 · Three.js · Prisma · SQLite · DeepSeek&#13;&#10;          &lt;/Text&gt;&#13;&#10;          &lt;Text style={{ fontSize: 13, color: '#7E9470' }}&gt;广东医科大学 · 陈妍萱&lt;/Text&gt;&#13;&#10;        &lt;/Box&gt;&#13;&#10;      &lt;/Box&gt;&#13;&#10;&#13;&#10;      &lt;Box style={{ width: 580, height: 720, position: 'relative' }}&gt;&#13;&#10;        &lt;Image src=&quot;assets/mobile.png&quot; style={{ width: 580, height: 720, objectFit: 'cover', opacity: 0.9 }} /&gt;&#13;&#10;        &lt;Box style={{&#13;&#10;          position: 'absolute', top: 0, left: 0, width: 240, height: 720,&#13;&#10;          backgroundImage: 'linear-gradient(90deg, #1F3320 0%, rgba(31,51,32,0) 100%)',&#13;&#10;        }} /&gt;&#13;&#10;        &lt;Box style={{&#13;&#10;          position: 'absolute', top: 44, right: 34, flexDirection: 'column', alignItems: 'flex-end',&#13;&#10;        }}&gt;&#13;&#10;          &lt;Text style={{ fontSize: 13, color: '#5F7350', letterSpacing: 2 }}&gt;移动端实机界面&lt;/Text&gt;&#13;&#10;          &lt;Text style={{ fontSize: 13, color: '#5F7350', marginTop: 4 }}&gt;主操作在首屏一次点击内完成&lt;/Text&gt;&#13;&#10;        &lt;/Box&gt;&#13;&#10;        &lt;Box style={{&#13;&#10;          position: 'absolute', bottom: 46, left: 34, right: 34, background: 'rgba(31,51,32,0.86)',&#13;&#10;          borderRadius: 4, paddingTop: 13, paddingBottom: 13, paddingLeft: 16, paddingRight: 16,&#13;&#10;          flexDirection: 'column',&#13;&#10;        }}&gt;&#13;&#10;          &lt;Text style={{ fontSize: 15, color: '#D8E4CC', fontWeight: 'bold', lineHeight: 1.45 }}&gt;&#13;&#10;            窄屏时左栏变底部抽屉，木牌变顶上一条 —— 提醒走两条通道，权限被拒功能也不废。&#13;&#10;          &lt;/Text&gt;&#13;&#10;        &lt;/Box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F3320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685800" y="666750"/>
            <a:ext cx="38100" cy="247650"/>
          </a:xfrm>
          <a:prstGeom prst="rect">
            <a:avLst/>
          </a:prstGeom>
          <a:solidFill>
            <a:srgbClr val="8ABFE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57250" y="714375"/>
            <a:ext cx="32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8FA680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419600" y="7143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E9470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 spc="75">
                <a:solidFill>
                  <a:srgbClr val="7E9470"/>
                </a:solidFill>
                <a:latin typeface="Microsoft YaHei"/>
                <a:ea typeface="Microsoft YaHei"/>
              </a:rPr>
              <a:t xml:space="preserve"> · B </a:t>
            </a:r>
            <a:r>
              <a:rPr lang="zh-CN" sz="975" spc="75">
                <a:solidFill>
                  <a:srgbClr val="7E9470"/>
                </a:solidFill>
                <a:latin typeface="Microsoft YaHei"/>
                <a:ea typeface="Microsoft YaHei"/>
              </a:rPr>
              <a:t>组</a:t>
            </a:r>
            <a:r>
              <a:rPr lang="en-US" sz="975" spc="75">
                <a:solidFill>
                  <a:srgbClr val="7E9470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1066800"/>
            <a:ext cx="56007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7E9470"/>
                </a:solidFill>
                <a:latin typeface="Microsoft YaHei"/>
                <a:ea typeface="Microsoft YaHei"/>
              </a:rPr>
              <a:t xml:space="preserve">MedAI </a:t>
            </a:r>
            <a:r>
              <a:rPr lang="zh-CN" sz="1125">
                <a:solidFill>
                  <a:srgbClr val="7E9470"/>
                </a:solidFill>
                <a:latin typeface="Microsoft YaHei"/>
                <a:ea typeface="Microsoft YaHei"/>
              </a:rPr>
              <a:t>是一个面向普通家庭的健康档案与</a:t>
            </a:r>
            <a:r>
              <a:rPr lang="en-US" sz="1125">
                <a:solidFill>
                  <a:srgbClr val="7E9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7E9470"/>
                </a:solidFill>
                <a:latin typeface="Microsoft YaHei"/>
                <a:ea typeface="Microsoft YaHei"/>
              </a:rPr>
              <a:t>问诊工具：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7E9470"/>
                </a:solidFill>
                <a:latin typeface="Microsoft YaHei"/>
                <a:ea typeface="Microsoft YaHei"/>
              </a:rPr>
              <a:t>不替代医生，只做记录、提醒、翻译和整理。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2266950"/>
            <a:ext cx="5600700" cy="2657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我们想做的不是</a:t>
            </a:r>
            <a:endParaRPr/>
          </a:p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又一个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聊天框，</a:t>
            </a:r>
            <a:endParaRPr/>
          </a:p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而是</a:t>
            </a:r>
            <a:r>
              <a:rPr lang="zh-CN" sz="3000" b="1">
                <a:solidFill>
                  <a:srgbClr val="8ABFEB"/>
                </a:solidFill>
                <a:latin typeface="Microsoft YaHei"/>
                <a:ea typeface="Microsoft YaHei"/>
              </a:rPr>
              <a:t>一个家里真的会打开</a:t>
            </a: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的东西。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5800" y="5210175"/>
            <a:ext cx="5600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C6D8B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C6D8B8"/>
                </a:solidFill>
                <a:latin typeface="Microsoft YaHei"/>
                <a:ea typeface="Microsoft YaHei"/>
              </a:rPr>
              <a:t>不诊断、不开处方，也不替你决定哪条信息重要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" y="5610225"/>
            <a:ext cx="5600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C6D8B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C6D8B8"/>
                </a:solidFill>
                <a:latin typeface="Microsoft YaHei"/>
                <a:ea typeface="Microsoft YaHei"/>
              </a:rPr>
              <a:t>安全判断不交给模型，判断权留在患者手里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85800" y="6010275"/>
            <a:ext cx="5600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C6D8B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C6D8B8"/>
                </a:solidFill>
                <a:latin typeface="Microsoft YaHei"/>
                <a:ea typeface="Microsoft YaHei"/>
              </a:rPr>
              <a:t>一个</a:t>
            </a:r>
            <a:r>
              <a:rPr lang="en-US" sz="1275">
                <a:solidFill>
                  <a:srgbClr val="C6D8B8"/>
                </a:solidFill>
                <a:latin typeface="Microsoft YaHei"/>
                <a:ea typeface="Microsoft YaHei"/>
              </a:rPr>
              <a:t xml:space="preserve"> 47MB </a:t>
            </a:r>
            <a:r>
              <a:rPr lang="zh-CN" sz="1275">
                <a:solidFill>
                  <a:srgbClr val="C6D8B8"/>
                </a:solidFill>
                <a:latin typeface="Microsoft YaHei"/>
                <a:ea typeface="Microsoft YaHei"/>
              </a:rPr>
              <a:t>的离线包解开就能跑，断网也能用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85800" y="6010275"/>
            <a:ext cx="5600700" cy="323850"/>
          </a:xfrm>
          <a:custGeom>
            <a:pathLst>
              <a:path w="588" h="34">
                <a:moveTo>
                  <a:pt x="0" y="0"/>
                </a:moveTo>
                <a:lnTo>
                  <a:pt x="588" y="0"/>
                </a:lnTo>
                <a:lnTo>
                  <a:pt x="588" y="1"/>
                </a:lnTo>
                <a:lnTo>
                  <a:pt x="0" y="1"/>
                </a:lnTo>
                <a:close/>
              </a:path>
            </a:pathLst>
          </a:custGeom>
          <a:solidFill>
            <a:srgbClr val="3C5138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3438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E9470"/>
                </a:solidFill>
                <a:latin typeface="Microsoft YaHei"/>
                <a:ea typeface="Microsoft YaHei"/>
              </a:rPr>
              <a:t>Next.js 16 · React 19 · Three.js · Prisma · SQLite · DeepSeek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67300" y="617220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E9470"/>
                </a:solidFill>
                <a:latin typeface="Microsoft YaHei"/>
                <a:ea typeface="Microsoft YaHei"/>
              </a:rPr>
              <a:t>广东医科大学</a:t>
            </a:r>
            <a:r>
              <a:rPr lang="en-US" sz="975">
                <a:solidFill>
                  <a:srgbClr val="7E9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7E9470"/>
                </a:solidFill>
                <a:latin typeface="Microsoft YaHei"/>
                <a:ea typeface="Microsoft YaHei"/>
              </a:rPr>
              <a:t>陈妍萱 潘思妍</a:t>
            </a:r>
            <a:endParaRPr/>
          </a:p>
        </p:txBody>
      </p:sp>
      <p:pic>
        <p:nvPicPr>
          <p:cNvPr id="210" name=""/>
          <p:cNvPicPr>
            <a:picLocks noChangeAspect="1"/>
          </p:cNvPicPr>
          <p:nvPr/>
        </p:nvPicPr>
        <p:blipFill>
          <a:blip r:embed="rId1">
            <a:alphaModFix amt="90000"/>
          </a:blip>
          <a:srcRect l="0" t="21318" r="0" b="21318"/>
          <a:stretch>
            <a:fillRect/>
          </a:stretch>
        </p:blipFill>
        <p:spPr>
          <a:xfrm rot="0" flipH="0" flipV="0">
            <a:off x="6667500" y="0"/>
            <a:ext cx="5524500" cy="6858000"/>
          </a:xfrm>
          <a:prstGeom prst="rect">
            <a:avLst/>
          </a:prstGeom>
          <a:ln/>
        </p:spPr>
      </p:pic>
      <p:sp>
        <p:nvSpPr>
          <p:cNvPr id="211" name=""/>
          <p:cNvSpPr/>
          <p:nvPr/>
        </p:nvSpPr>
        <p:spPr>
          <a:xfrm rot="0" flipH="0" flipV="0">
            <a:off x="6667500" y="0"/>
            <a:ext cx="2286000" cy="6858000"/>
          </a:xfrm>
          <a:prstGeom prst="rect">
            <a:avLst/>
          </a:prstGeom>
          <a:gradFill>
            <a:gsLst>
              <a:gs pos="0">
                <a:srgbClr val="1F3320"/>
              </a:gs>
              <a:gs pos="100000">
                <a:srgbClr val="1F33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0868025" y="419100"/>
            <a:ext cx="1000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5F7350"/>
                </a:solidFill>
                <a:latin typeface="Microsoft YaHei"/>
                <a:ea typeface="Microsoft YaHei"/>
              </a:rPr>
              <a:t>移动端实机界面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0258425" y="609600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350"/>
                </a:solidFill>
                <a:latin typeface="Microsoft YaHei"/>
                <a:ea typeface="Microsoft YaHei"/>
              </a:rPr>
              <a:t>主操作在首屏一次点击内完成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991350" y="5667375"/>
            <a:ext cx="4876800" cy="752475"/>
          </a:xfrm>
          <a:prstGeom prst="roundRect">
            <a:avLst>
              <a:gd name="adj" fmla="val 5063"/>
            </a:avLst>
          </a:prstGeom>
          <a:solidFill>
            <a:srgbClr val="1F3320">
              <a:alpha val="86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143750" y="5791200"/>
            <a:ext cx="4572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8E4CC"/>
                </a:solidFill>
                <a:latin typeface="Microsoft YaHei"/>
                <a:ea typeface="Microsoft YaHei"/>
              </a:rPr>
              <a:t>窄屏时左栏变底部抽屉，木牌变顶上一条</a:t>
            </a:r>
            <a:r>
              <a:rPr lang="en-US" sz="1125" b="1">
                <a:solidFill>
                  <a:srgbClr val="D8E4C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 b="1">
                <a:solidFill>
                  <a:srgbClr val="D8E4CC"/>
                </a:solidFill>
                <a:latin typeface="Microsoft YaHei"/>
                <a:ea typeface="Microsoft YaHei"/>
              </a:rPr>
              <a:t>提醒走两条通道，权限被拒功能也不废。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2026-10-29T22:57:48Z</dcterms:created>
  <dcterms:modified xsi:type="dcterms:W3CDTF">2026-10-29T22:57:48Z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{"AIGC":{"Label":"1","ContentProducer":"00119111010856365494821B355","ProduceID":"01a1880585ac7aaba5ac0057592bb092","ReservedCode1":"","ContentPropagator":"00119111010856365494821B355","PropagateID":"01a1880585ac7aaba5ac0057592bb092","ReservedCode2":""}}</vt:lpwstr>
  </property>
</Properties>
</file>